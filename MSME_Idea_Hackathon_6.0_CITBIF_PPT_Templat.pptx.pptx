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Lst>
  <p:sldSz cx="18288000" cy="10287000"/>
  <p:notesSz cx="6858000" cy="9144000"/>
  <p:embeddedFontLst>
    <p:embeddedFont>
      <p:font typeface="Calibri (MS)" panose="020B0604020202020204" charset="0"/>
      <p:regular r:id="rId7"/>
    </p:embeddedFont>
    <p:embeddedFont>
      <p:font typeface="Calibri (MS) Bold" panose="020B0604020202020204" charset="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976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FFFFF"/>
            </a:solidFill>
          </p:spPr>
        </p:sp>
      </p:grpSp>
      <p:grpSp>
        <p:nvGrpSpPr>
          <p:cNvPr id="4" name="Group 4"/>
          <p:cNvGrpSpPr/>
          <p:nvPr/>
        </p:nvGrpSpPr>
        <p:grpSpPr>
          <a:xfrm>
            <a:off x="0" y="0"/>
            <a:ext cx="219456" cy="10287000"/>
            <a:chOff x="0" y="0"/>
            <a:chExt cx="292608" cy="13716000"/>
          </a:xfrm>
        </p:grpSpPr>
        <p:sp>
          <p:nvSpPr>
            <p:cNvPr id="5" name="Freeform 5"/>
            <p:cNvSpPr/>
            <p:nvPr/>
          </p:nvSpPr>
          <p:spPr>
            <a:xfrm>
              <a:off x="0" y="0"/>
              <a:ext cx="292608" cy="13716000"/>
            </a:xfrm>
            <a:custGeom>
              <a:avLst/>
              <a:gdLst/>
              <a:ahLst/>
              <a:cxnLst/>
              <a:rect l="l" t="t" r="r" b="b"/>
              <a:pathLst>
                <a:path w="292608" h="13716000">
                  <a:moveTo>
                    <a:pt x="0" y="0"/>
                  </a:moveTo>
                  <a:lnTo>
                    <a:pt x="292608" y="0"/>
                  </a:lnTo>
                  <a:lnTo>
                    <a:pt x="292608" y="13716000"/>
                  </a:lnTo>
                  <a:lnTo>
                    <a:pt x="0" y="13716000"/>
                  </a:lnTo>
                  <a:close/>
                </a:path>
              </a:pathLst>
            </a:custGeom>
            <a:solidFill>
              <a:srgbClr val="EB7E22"/>
            </a:solidFill>
          </p:spPr>
        </p:sp>
      </p:grpSp>
      <p:sp>
        <p:nvSpPr>
          <p:cNvPr id="6" name="TextBox 6"/>
          <p:cNvSpPr txBox="1"/>
          <p:nvPr/>
        </p:nvSpPr>
        <p:spPr>
          <a:xfrm>
            <a:off x="845820" y="500253"/>
            <a:ext cx="914400" cy="729615"/>
          </a:xfrm>
          <a:prstGeom prst="rect">
            <a:avLst/>
          </a:prstGeom>
        </p:spPr>
        <p:txBody>
          <a:bodyPr lIns="0" tIns="0" rIns="0" bIns="0" rtlCol="0" anchor="t">
            <a:spAutoFit/>
          </a:bodyPr>
          <a:lstStyle/>
          <a:p>
            <a:pPr algn="l">
              <a:lnSpc>
                <a:spcPts val="4320"/>
              </a:lnSpc>
            </a:pPr>
            <a:r>
              <a:rPr lang="en-US" sz="3600" b="1">
                <a:solidFill>
                  <a:srgbClr val="EB7E22"/>
                </a:solidFill>
                <a:latin typeface="Calibri (MS) Bold"/>
                <a:ea typeface="Calibri (MS) Bold"/>
                <a:cs typeface="Calibri (MS) Bold"/>
                <a:sym typeface="Calibri (MS) Bold"/>
              </a:rPr>
              <a:t>01</a:t>
            </a:r>
          </a:p>
        </p:txBody>
      </p:sp>
      <p:sp>
        <p:nvSpPr>
          <p:cNvPr id="7" name="TextBox 7"/>
          <p:cNvSpPr txBox="1"/>
          <p:nvPr/>
        </p:nvSpPr>
        <p:spPr>
          <a:xfrm>
            <a:off x="1805940" y="408432"/>
            <a:ext cx="14630400" cy="944880"/>
          </a:xfrm>
          <a:prstGeom prst="rect">
            <a:avLst/>
          </a:prstGeom>
        </p:spPr>
        <p:txBody>
          <a:bodyPr lIns="0" tIns="0" rIns="0" bIns="0" rtlCol="0" anchor="t">
            <a:spAutoFit/>
          </a:bodyPr>
          <a:lstStyle/>
          <a:p>
            <a:pPr algn="l">
              <a:lnSpc>
                <a:spcPts val="4680"/>
              </a:lnSpc>
            </a:pPr>
            <a:r>
              <a:rPr lang="en-US" sz="3900" b="1">
                <a:solidFill>
                  <a:srgbClr val="122F52"/>
                </a:solidFill>
                <a:latin typeface="Calibri (MS) Bold"/>
                <a:ea typeface="Calibri (MS) Bold"/>
                <a:cs typeface="Calibri (MS) Bold"/>
                <a:sym typeface="Calibri (MS) Bold"/>
              </a:rPr>
              <a:t>Problem Statement</a:t>
            </a:r>
          </a:p>
        </p:txBody>
      </p:sp>
      <p:grpSp>
        <p:nvGrpSpPr>
          <p:cNvPr id="8" name="Group 8"/>
          <p:cNvGrpSpPr/>
          <p:nvPr/>
        </p:nvGrpSpPr>
        <p:grpSpPr>
          <a:xfrm>
            <a:off x="884396" y="1570196"/>
            <a:ext cx="5226368" cy="1454468"/>
            <a:chOff x="0" y="0"/>
            <a:chExt cx="6968490" cy="1939290"/>
          </a:xfrm>
        </p:grpSpPr>
        <p:sp>
          <p:nvSpPr>
            <p:cNvPr id="9" name="Freeform 9"/>
            <p:cNvSpPr/>
            <p:nvPr/>
          </p:nvSpPr>
          <p:spPr>
            <a:xfrm>
              <a:off x="0" y="0"/>
              <a:ext cx="6968490" cy="1939290"/>
            </a:xfrm>
            <a:custGeom>
              <a:avLst/>
              <a:gdLst/>
              <a:ahLst/>
              <a:cxnLst/>
              <a:rect l="l" t="t" r="r" b="b"/>
              <a:pathLst>
                <a:path w="6968490" h="1939290">
                  <a:moveTo>
                    <a:pt x="0" y="323215"/>
                  </a:moveTo>
                  <a:cubicBezTo>
                    <a:pt x="0" y="144653"/>
                    <a:pt x="144653" y="0"/>
                    <a:pt x="323215" y="0"/>
                  </a:cubicBezTo>
                  <a:lnTo>
                    <a:pt x="6645275" y="0"/>
                  </a:lnTo>
                  <a:cubicBezTo>
                    <a:pt x="6823837" y="0"/>
                    <a:pt x="6968490" y="144653"/>
                    <a:pt x="6968490" y="323215"/>
                  </a:cubicBezTo>
                  <a:lnTo>
                    <a:pt x="6968490" y="1616075"/>
                  </a:lnTo>
                  <a:cubicBezTo>
                    <a:pt x="6968490" y="1794637"/>
                    <a:pt x="6823837" y="1939290"/>
                    <a:pt x="6645275" y="1939290"/>
                  </a:cubicBezTo>
                  <a:lnTo>
                    <a:pt x="323215" y="1939290"/>
                  </a:lnTo>
                  <a:cubicBezTo>
                    <a:pt x="144653" y="1939290"/>
                    <a:pt x="0" y="1794637"/>
                    <a:pt x="0" y="1616075"/>
                  </a:cubicBezTo>
                  <a:close/>
                </a:path>
              </a:pathLst>
            </a:custGeom>
            <a:solidFill>
              <a:srgbClr val="F4F7FA"/>
            </a:solidFill>
            <a:ln w="14288" cap="sq">
              <a:solidFill>
                <a:srgbClr val="D2DAE2"/>
              </a:solidFill>
              <a:prstDash val="solid"/>
              <a:miter/>
            </a:ln>
          </p:spPr>
        </p:sp>
      </p:grpSp>
      <p:grpSp>
        <p:nvGrpSpPr>
          <p:cNvPr id="10" name="Group 10"/>
          <p:cNvGrpSpPr/>
          <p:nvPr/>
        </p:nvGrpSpPr>
        <p:grpSpPr>
          <a:xfrm>
            <a:off x="891540" y="1577340"/>
            <a:ext cx="109728" cy="1440180"/>
            <a:chOff x="0" y="0"/>
            <a:chExt cx="146304" cy="1920240"/>
          </a:xfrm>
        </p:grpSpPr>
        <p:sp>
          <p:nvSpPr>
            <p:cNvPr id="11" name="Freeform 11"/>
            <p:cNvSpPr/>
            <p:nvPr/>
          </p:nvSpPr>
          <p:spPr>
            <a:xfrm>
              <a:off x="0" y="0"/>
              <a:ext cx="146304" cy="1920240"/>
            </a:xfrm>
            <a:custGeom>
              <a:avLst/>
              <a:gdLst/>
              <a:ahLst/>
              <a:cxnLst/>
              <a:rect l="l" t="t" r="r" b="b"/>
              <a:pathLst>
                <a:path w="146304" h="1920240">
                  <a:moveTo>
                    <a:pt x="0" y="0"/>
                  </a:moveTo>
                  <a:lnTo>
                    <a:pt x="146304" y="0"/>
                  </a:lnTo>
                  <a:lnTo>
                    <a:pt x="146304" y="1920240"/>
                  </a:lnTo>
                  <a:lnTo>
                    <a:pt x="0" y="1920240"/>
                  </a:lnTo>
                  <a:close/>
                </a:path>
              </a:pathLst>
            </a:custGeom>
            <a:solidFill>
              <a:srgbClr val="EB7E22"/>
            </a:solidFill>
          </p:spPr>
        </p:sp>
      </p:grpSp>
      <p:sp>
        <p:nvSpPr>
          <p:cNvPr id="12" name="TextBox 12"/>
          <p:cNvSpPr txBox="1"/>
          <p:nvPr/>
        </p:nvSpPr>
        <p:spPr>
          <a:xfrm>
            <a:off x="1291590" y="1735455"/>
            <a:ext cx="4411980" cy="436245"/>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IDEA / PROJECT TITLE</a:t>
            </a:r>
          </a:p>
        </p:txBody>
      </p:sp>
      <p:sp>
        <p:nvSpPr>
          <p:cNvPr id="13" name="TextBox 13"/>
          <p:cNvSpPr txBox="1"/>
          <p:nvPr/>
        </p:nvSpPr>
        <p:spPr>
          <a:xfrm>
            <a:off x="1325880" y="2133600"/>
            <a:ext cx="4537710" cy="838200"/>
          </a:xfrm>
          <a:prstGeom prst="rect">
            <a:avLst/>
          </a:prstGeom>
        </p:spPr>
        <p:txBody>
          <a:bodyPr lIns="0" tIns="0" rIns="0" bIns="0" rtlCol="0" anchor="t">
            <a:spAutoFit/>
          </a:bodyPr>
          <a:lstStyle/>
          <a:p>
            <a:pPr algn="l">
              <a:lnSpc>
                <a:spcPts val="2160"/>
              </a:lnSpc>
            </a:pPr>
            <a:r>
              <a:rPr lang="en-US" sz="1800">
                <a:solidFill>
                  <a:srgbClr val="697684"/>
                </a:solidFill>
                <a:latin typeface="Calibri (MS)"/>
                <a:ea typeface="Calibri (MS)"/>
                <a:cs typeface="Calibri (MS)"/>
                <a:sym typeface="Calibri (MS)"/>
              </a:rPr>
              <a:t>Multi Mode AI Smart Glass with contextual task</a:t>
            </a:r>
          </a:p>
          <a:p>
            <a:pPr algn="l">
              <a:lnSpc>
                <a:spcPts val="2160"/>
              </a:lnSpc>
            </a:pPr>
            <a:r>
              <a:rPr lang="en-US" sz="1800">
                <a:solidFill>
                  <a:srgbClr val="697684"/>
                </a:solidFill>
                <a:latin typeface="Calibri (MS)"/>
                <a:ea typeface="Calibri (MS)"/>
                <a:cs typeface="Calibri (MS)"/>
                <a:sym typeface="Calibri (MS)"/>
              </a:rPr>
              <a:t>guidance like cooking and visual memory for visually impaired users</a:t>
            </a:r>
          </a:p>
        </p:txBody>
      </p:sp>
      <p:grpSp>
        <p:nvGrpSpPr>
          <p:cNvPr id="14" name="Group 14"/>
          <p:cNvGrpSpPr/>
          <p:nvPr/>
        </p:nvGrpSpPr>
        <p:grpSpPr>
          <a:xfrm>
            <a:off x="6370796" y="1570196"/>
            <a:ext cx="5226368" cy="1454468"/>
            <a:chOff x="0" y="0"/>
            <a:chExt cx="6968490" cy="1939290"/>
          </a:xfrm>
        </p:grpSpPr>
        <p:sp>
          <p:nvSpPr>
            <p:cNvPr id="15" name="Freeform 15"/>
            <p:cNvSpPr/>
            <p:nvPr/>
          </p:nvSpPr>
          <p:spPr>
            <a:xfrm>
              <a:off x="0" y="0"/>
              <a:ext cx="6968490" cy="1939290"/>
            </a:xfrm>
            <a:custGeom>
              <a:avLst/>
              <a:gdLst/>
              <a:ahLst/>
              <a:cxnLst/>
              <a:rect l="l" t="t" r="r" b="b"/>
              <a:pathLst>
                <a:path w="6968490" h="1939290">
                  <a:moveTo>
                    <a:pt x="0" y="323215"/>
                  </a:moveTo>
                  <a:cubicBezTo>
                    <a:pt x="0" y="144653"/>
                    <a:pt x="144653" y="0"/>
                    <a:pt x="323215" y="0"/>
                  </a:cubicBezTo>
                  <a:lnTo>
                    <a:pt x="6645275" y="0"/>
                  </a:lnTo>
                  <a:cubicBezTo>
                    <a:pt x="6823837" y="0"/>
                    <a:pt x="6968490" y="144653"/>
                    <a:pt x="6968490" y="323215"/>
                  </a:cubicBezTo>
                  <a:lnTo>
                    <a:pt x="6968490" y="1616075"/>
                  </a:lnTo>
                  <a:cubicBezTo>
                    <a:pt x="6968490" y="1794637"/>
                    <a:pt x="6823837" y="1939290"/>
                    <a:pt x="6645275" y="1939290"/>
                  </a:cubicBezTo>
                  <a:lnTo>
                    <a:pt x="323215" y="1939290"/>
                  </a:lnTo>
                  <a:cubicBezTo>
                    <a:pt x="144653" y="1939290"/>
                    <a:pt x="0" y="1794637"/>
                    <a:pt x="0" y="1616075"/>
                  </a:cubicBezTo>
                  <a:close/>
                </a:path>
              </a:pathLst>
            </a:custGeom>
            <a:solidFill>
              <a:srgbClr val="F4F7FA"/>
            </a:solidFill>
            <a:ln w="14288" cap="sq">
              <a:solidFill>
                <a:srgbClr val="D2DAE2"/>
              </a:solidFill>
              <a:prstDash val="solid"/>
              <a:miter/>
            </a:ln>
          </p:spPr>
        </p:sp>
      </p:grpSp>
      <p:grpSp>
        <p:nvGrpSpPr>
          <p:cNvPr id="16" name="Group 16"/>
          <p:cNvGrpSpPr/>
          <p:nvPr/>
        </p:nvGrpSpPr>
        <p:grpSpPr>
          <a:xfrm>
            <a:off x="6377940" y="1577340"/>
            <a:ext cx="109728" cy="1440180"/>
            <a:chOff x="0" y="0"/>
            <a:chExt cx="146304" cy="1920240"/>
          </a:xfrm>
        </p:grpSpPr>
        <p:sp>
          <p:nvSpPr>
            <p:cNvPr id="17" name="Freeform 17"/>
            <p:cNvSpPr/>
            <p:nvPr/>
          </p:nvSpPr>
          <p:spPr>
            <a:xfrm>
              <a:off x="0" y="0"/>
              <a:ext cx="146304" cy="1920240"/>
            </a:xfrm>
            <a:custGeom>
              <a:avLst/>
              <a:gdLst/>
              <a:ahLst/>
              <a:cxnLst/>
              <a:rect l="l" t="t" r="r" b="b"/>
              <a:pathLst>
                <a:path w="146304" h="1920240">
                  <a:moveTo>
                    <a:pt x="0" y="0"/>
                  </a:moveTo>
                  <a:lnTo>
                    <a:pt x="146304" y="0"/>
                  </a:lnTo>
                  <a:lnTo>
                    <a:pt x="146304" y="1920240"/>
                  </a:lnTo>
                  <a:lnTo>
                    <a:pt x="0" y="1920240"/>
                  </a:lnTo>
                  <a:close/>
                </a:path>
              </a:pathLst>
            </a:custGeom>
            <a:solidFill>
              <a:srgbClr val="2769B4"/>
            </a:solidFill>
          </p:spPr>
        </p:sp>
      </p:grpSp>
      <p:sp>
        <p:nvSpPr>
          <p:cNvPr id="18" name="TextBox 18"/>
          <p:cNvSpPr txBox="1"/>
          <p:nvPr/>
        </p:nvSpPr>
        <p:spPr>
          <a:xfrm>
            <a:off x="6812280" y="1822323"/>
            <a:ext cx="4411980" cy="436245"/>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TEAM / ORGANIZATION</a:t>
            </a:r>
          </a:p>
        </p:txBody>
      </p:sp>
      <p:sp>
        <p:nvSpPr>
          <p:cNvPr id="19" name="TextBox 19"/>
          <p:cNvSpPr txBox="1"/>
          <p:nvPr/>
        </p:nvSpPr>
        <p:spPr>
          <a:xfrm>
            <a:off x="6842760" y="2302002"/>
            <a:ext cx="4351020" cy="304800"/>
          </a:xfrm>
          <a:prstGeom prst="rect">
            <a:avLst/>
          </a:prstGeom>
        </p:spPr>
        <p:txBody>
          <a:bodyPr lIns="0" tIns="0" rIns="0" bIns="0" rtlCol="0" anchor="t">
            <a:spAutoFit/>
          </a:bodyPr>
          <a:lstStyle/>
          <a:p>
            <a:pPr algn="l">
              <a:lnSpc>
                <a:spcPts val="2160"/>
              </a:lnSpc>
            </a:pPr>
            <a:r>
              <a:rPr lang="en-US" sz="1800">
                <a:solidFill>
                  <a:srgbClr val="697684"/>
                </a:solidFill>
                <a:latin typeface="Calibri (MS)"/>
                <a:ea typeface="Calibri (MS)"/>
                <a:cs typeface="Calibri (MS)"/>
                <a:sym typeface="Calibri (MS)"/>
              </a:rPr>
              <a:t>Neural Nexus/Chennai Institute Of Technology</a:t>
            </a:r>
          </a:p>
        </p:txBody>
      </p:sp>
      <p:grpSp>
        <p:nvGrpSpPr>
          <p:cNvPr id="20" name="Group 20"/>
          <p:cNvGrpSpPr/>
          <p:nvPr/>
        </p:nvGrpSpPr>
        <p:grpSpPr>
          <a:xfrm>
            <a:off x="11857196" y="1570196"/>
            <a:ext cx="5432108" cy="1454468"/>
            <a:chOff x="0" y="0"/>
            <a:chExt cx="7242810" cy="1939290"/>
          </a:xfrm>
        </p:grpSpPr>
        <p:sp>
          <p:nvSpPr>
            <p:cNvPr id="21" name="Freeform 21"/>
            <p:cNvSpPr/>
            <p:nvPr/>
          </p:nvSpPr>
          <p:spPr>
            <a:xfrm>
              <a:off x="0" y="0"/>
              <a:ext cx="7242811" cy="1939290"/>
            </a:xfrm>
            <a:custGeom>
              <a:avLst/>
              <a:gdLst/>
              <a:ahLst/>
              <a:cxnLst/>
              <a:rect l="l" t="t" r="r" b="b"/>
              <a:pathLst>
                <a:path w="7242811" h="1939290">
                  <a:moveTo>
                    <a:pt x="0" y="323215"/>
                  </a:moveTo>
                  <a:cubicBezTo>
                    <a:pt x="0" y="144653"/>
                    <a:pt x="144653" y="0"/>
                    <a:pt x="323215" y="0"/>
                  </a:cubicBezTo>
                  <a:lnTo>
                    <a:pt x="6919595" y="0"/>
                  </a:lnTo>
                  <a:cubicBezTo>
                    <a:pt x="7098157" y="0"/>
                    <a:pt x="7242811" y="144653"/>
                    <a:pt x="7242811" y="323215"/>
                  </a:cubicBezTo>
                  <a:lnTo>
                    <a:pt x="7242811" y="1616075"/>
                  </a:lnTo>
                  <a:cubicBezTo>
                    <a:pt x="7242811" y="1794637"/>
                    <a:pt x="7098157" y="1939290"/>
                    <a:pt x="6919595" y="1939290"/>
                  </a:cubicBezTo>
                  <a:lnTo>
                    <a:pt x="323215" y="1939290"/>
                  </a:lnTo>
                  <a:cubicBezTo>
                    <a:pt x="144653" y="1939290"/>
                    <a:pt x="0" y="1794637"/>
                    <a:pt x="0" y="1616075"/>
                  </a:cubicBezTo>
                  <a:close/>
                </a:path>
              </a:pathLst>
            </a:custGeom>
            <a:solidFill>
              <a:srgbClr val="F4F7FA"/>
            </a:solidFill>
            <a:ln w="14288" cap="sq">
              <a:solidFill>
                <a:srgbClr val="D2DAE2"/>
              </a:solidFill>
              <a:prstDash val="solid"/>
              <a:miter/>
            </a:ln>
          </p:spPr>
        </p:sp>
      </p:grpSp>
      <p:grpSp>
        <p:nvGrpSpPr>
          <p:cNvPr id="22" name="Group 22"/>
          <p:cNvGrpSpPr/>
          <p:nvPr/>
        </p:nvGrpSpPr>
        <p:grpSpPr>
          <a:xfrm>
            <a:off x="11864340" y="1577340"/>
            <a:ext cx="109728" cy="1440180"/>
            <a:chOff x="0" y="0"/>
            <a:chExt cx="146304" cy="1920240"/>
          </a:xfrm>
        </p:grpSpPr>
        <p:sp>
          <p:nvSpPr>
            <p:cNvPr id="23" name="Freeform 23"/>
            <p:cNvSpPr/>
            <p:nvPr/>
          </p:nvSpPr>
          <p:spPr>
            <a:xfrm>
              <a:off x="0" y="0"/>
              <a:ext cx="146304" cy="1920240"/>
            </a:xfrm>
            <a:custGeom>
              <a:avLst/>
              <a:gdLst/>
              <a:ahLst/>
              <a:cxnLst/>
              <a:rect l="l" t="t" r="r" b="b"/>
              <a:pathLst>
                <a:path w="146304" h="1920240">
                  <a:moveTo>
                    <a:pt x="0" y="0"/>
                  </a:moveTo>
                  <a:lnTo>
                    <a:pt x="146304" y="0"/>
                  </a:lnTo>
                  <a:lnTo>
                    <a:pt x="146304" y="1920240"/>
                  </a:lnTo>
                  <a:lnTo>
                    <a:pt x="0" y="1920240"/>
                  </a:lnTo>
                  <a:close/>
                </a:path>
              </a:pathLst>
            </a:custGeom>
            <a:solidFill>
              <a:srgbClr val="2D9169"/>
            </a:solidFill>
          </p:spPr>
        </p:sp>
      </p:grpSp>
      <p:sp>
        <p:nvSpPr>
          <p:cNvPr id="24" name="TextBox 24"/>
          <p:cNvSpPr txBox="1"/>
          <p:nvPr/>
        </p:nvSpPr>
        <p:spPr>
          <a:xfrm>
            <a:off x="12298680" y="1822323"/>
            <a:ext cx="4617720" cy="436245"/>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THEME</a:t>
            </a:r>
          </a:p>
        </p:txBody>
      </p:sp>
      <p:sp>
        <p:nvSpPr>
          <p:cNvPr id="25" name="TextBox 25"/>
          <p:cNvSpPr txBox="1"/>
          <p:nvPr/>
        </p:nvSpPr>
        <p:spPr>
          <a:xfrm>
            <a:off x="12298680" y="2435352"/>
            <a:ext cx="2628900" cy="304800"/>
          </a:xfrm>
          <a:prstGeom prst="rect">
            <a:avLst/>
          </a:prstGeom>
        </p:spPr>
        <p:txBody>
          <a:bodyPr lIns="0" tIns="0" rIns="0" bIns="0" rtlCol="0" anchor="t">
            <a:spAutoFit/>
          </a:bodyPr>
          <a:lstStyle/>
          <a:p>
            <a:pPr algn="l">
              <a:lnSpc>
                <a:spcPts val="2160"/>
              </a:lnSpc>
            </a:pPr>
            <a:r>
              <a:rPr lang="en-US" sz="1800">
                <a:solidFill>
                  <a:srgbClr val="697684"/>
                </a:solidFill>
                <a:latin typeface="Calibri (MS)"/>
                <a:ea typeface="Calibri (MS)"/>
                <a:cs typeface="Calibri (MS)"/>
                <a:sym typeface="Calibri (MS)"/>
              </a:rPr>
              <a:t>Other Frontier Technologies</a:t>
            </a:r>
          </a:p>
        </p:txBody>
      </p:sp>
      <p:grpSp>
        <p:nvGrpSpPr>
          <p:cNvPr id="26" name="Group 26"/>
          <p:cNvGrpSpPr/>
          <p:nvPr/>
        </p:nvGrpSpPr>
        <p:grpSpPr>
          <a:xfrm>
            <a:off x="884396" y="3490436"/>
            <a:ext cx="9889807" cy="2826067"/>
            <a:chOff x="0" y="0"/>
            <a:chExt cx="13186410" cy="3768090"/>
          </a:xfrm>
        </p:grpSpPr>
        <p:sp>
          <p:nvSpPr>
            <p:cNvPr id="27" name="Freeform 27"/>
            <p:cNvSpPr/>
            <p:nvPr/>
          </p:nvSpPr>
          <p:spPr>
            <a:xfrm>
              <a:off x="0" y="0"/>
              <a:ext cx="13186411" cy="3768090"/>
            </a:xfrm>
            <a:custGeom>
              <a:avLst/>
              <a:gdLst/>
              <a:ahLst/>
              <a:cxnLst/>
              <a:rect l="l" t="t" r="r" b="b"/>
              <a:pathLst>
                <a:path w="13186411" h="3768090">
                  <a:moveTo>
                    <a:pt x="0" y="628015"/>
                  </a:moveTo>
                  <a:cubicBezTo>
                    <a:pt x="0" y="281178"/>
                    <a:pt x="281178" y="0"/>
                    <a:pt x="628015" y="0"/>
                  </a:cubicBezTo>
                  <a:lnTo>
                    <a:pt x="12558395" y="0"/>
                  </a:lnTo>
                  <a:cubicBezTo>
                    <a:pt x="12905232" y="0"/>
                    <a:pt x="13186411" y="281178"/>
                    <a:pt x="13186411" y="628015"/>
                  </a:cubicBezTo>
                  <a:lnTo>
                    <a:pt x="13186411" y="3140075"/>
                  </a:lnTo>
                  <a:cubicBezTo>
                    <a:pt x="13186411" y="3486912"/>
                    <a:pt x="12905232" y="3768090"/>
                    <a:pt x="12558395" y="3768090"/>
                  </a:cubicBezTo>
                  <a:lnTo>
                    <a:pt x="628015" y="3768090"/>
                  </a:lnTo>
                  <a:cubicBezTo>
                    <a:pt x="281178" y="3768090"/>
                    <a:pt x="0" y="3486912"/>
                    <a:pt x="0" y="3140075"/>
                  </a:cubicBezTo>
                  <a:close/>
                </a:path>
              </a:pathLst>
            </a:custGeom>
            <a:solidFill>
              <a:srgbClr val="F4F7FA"/>
            </a:solidFill>
            <a:ln w="14288" cap="sq">
              <a:solidFill>
                <a:srgbClr val="D2DAE2"/>
              </a:solidFill>
              <a:prstDash val="solid"/>
              <a:miter/>
            </a:ln>
          </p:spPr>
        </p:sp>
      </p:grpSp>
      <p:grpSp>
        <p:nvGrpSpPr>
          <p:cNvPr id="28" name="Group 28"/>
          <p:cNvGrpSpPr/>
          <p:nvPr/>
        </p:nvGrpSpPr>
        <p:grpSpPr>
          <a:xfrm>
            <a:off x="891540" y="3497580"/>
            <a:ext cx="109728" cy="2811780"/>
            <a:chOff x="0" y="0"/>
            <a:chExt cx="146304" cy="3749040"/>
          </a:xfrm>
        </p:grpSpPr>
        <p:sp>
          <p:nvSpPr>
            <p:cNvPr id="29" name="Freeform 29"/>
            <p:cNvSpPr/>
            <p:nvPr/>
          </p:nvSpPr>
          <p:spPr>
            <a:xfrm>
              <a:off x="0" y="0"/>
              <a:ext cx="146304" cy="3749040"/>
            </a:xfrm>
            <a:custGeom>
              <a:avLst/>
              <a:gdLst/>
              <a:ahLst/>
              <a:cxnLst/>
              <a:rect l="l" t="t" r="r" b="b"/>
              <a:pathLst>
                <a:path w="146304" h="3749040">
                  <a:moveTo>
                    <a:pt x="0" y="0"/>
                  </a:moveTo>
                  <a:lnTo>
                    <a:pt x="146304" y="0"/>
                  </a:lnTo>
                  <a:lnTo>
                    <a:pt x="146304" y="3749040"/>
                  </a:lnTo>
                  <a:lnTo>
                    <a:pt x="0" y="3749040"/>
                  </a:lnTo>
                  <a:close/>
                </a:path>
              </a:pathLst>
            </a:custGeom>
            <a:solidFill>
              <a:srgbClr val="EB7E22"/>
            </a:solidFill>
          </p:spPr>
        </p:sp>
      </p:grpSp>
      <p:sp>
        <p:nvSpPr>
          <p:cNvPr id="30" name="TextBox 30"/>
          <p:cNvSpPr txBox="1"/>
          <p:nvPr/>
        </p:nvSpPr>
        <p:spPr>
          <a:xfrm>
            <a:off x="1325880" y="3742563"/>
            <a:ext cx="9075420" cy="436245"/>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CORE PROBLEM</a:t>
            </a:r>
          </a:p>
        </p:txBody>
      </p:sp>
      <p:sp>
        <p:nvSpPr>
          <p:cNvPr id="31" name="TextBox 31"/>
          <p:cNvSpPr txBox="1"/>
          <p:nvPr/>
        </p:nvSpPr>
        <p:spPr>
          <a:xfrm>
            <a:off x="1325880" y="4346067"/>
            <a:ext cx="9075420" cy="1524000"/>
          </a:xfrm>
          <a:prstGeom prst="rect">
            <a:avLst/>
          </a:prstGeom>
        </p:spPr>
        <p:txBody>
          <a:bodyPr lIns="0" tIns="0" rIns="0" bIns="0" rtlCol="0" anchor="t">
            <a:spAutoFit/>
          </a:bodyPr>
          <a:lstStyle/>
          <a:p>
            <a:pPr marL="431799" lvl="1" indent="-215899" algn="l">
              <a:lnSpc>
                <a:spcPts val="2399"/>
              </a:lnSpc>
              <a:buFont typeface="Arial"/>
              <a:buChar char="•"/>
            </a:pPr>
            <a:r>
              <a:rPr lang="en-US" sz="1999">
                <a:solidFill>
                  <a:srgbClr val="697684"/>
                </a:solidFill>
                <a:latin typeface="Calibri (MS)"/>
                <a:ea typeface="Calibri (MS)"/>
                <a:cs typeface="Calibri (MS)"/>
                <a:sym typeface="Calibri (MS)"/>
              </a:rPr>
              <a:t>Visually impaired people face difficulty identifying ingredients, following recipes, monitoring cooking and handling heat safely. </a:t>
            </a:r>
          </a:p>
          <a:p>
            <a:pPr marL="431799" lvl="1" indent="-215899" algn="l">
              <a:lnSpc>
                <a:spcPts val="2399"/>
              </a:lnSpc>
              <a:buFont typeface="Arial"/>
              <a:buChar char="•"/>
            </a:pPr>
            <a:r>
              <a:rPr lang="en-US" sz="1999">
                <a:solidFill>
                  <a:srgbClr val="697684"/>
                </a:solidFill>
                <a:latin typeface="Calibri (MS)"/>
                <a:ea typeface="Calibri (MS)"/>
                <a:cs typeface="Calibri (MS)"/>
                <a:sym typeface="Calibri (MS)"/>
              </a:rPr>
              <a:t>Existing tools mainly provide recipes, voice assistance or basic object detection. </a:t>
            </a:r>
          </a:p>
          <a:p>
            <a:pPr marL="431799" lvl="1" indent="-215899" algn="l">
              <a:lnSpc>
                <a:spcPts val="2399"/>
              </a:lnSpc>
              <a:buFont typeface="Arial"/>
              <a:buChar char="•"/>
            </a:pPr>
            <a:r>
              <a:rPr lang="en-US" sz="1999">
                <a:solidFill>
                  <a:srgbClr val="697684"/>
                </a:solidFill>
                <a:latin typeface="Calibri (MS)"/>
                <a:ea typeface="Calibri (MS)"/>
                <a:cs typeface="Calibri (MS)"/>
                <a:sym typeface="Calibri (MS)"/>
              </a:rPr>
              <a:t>They do not understand the complete cooking process or provide continuous guidance based on what is happening in the kitchen.</a:t>
            </a:r>
          </a:p>
        </p:txBody>
      </p:sp>
      <p:grpSp>
        <p:nvGrpSpPr>
          <p:cNvPr id="32" name="Group 32"/>
          <p:cNvGrpSpPr/>
          <p:nvPr/>
        </p:nvGrpSpPr>
        <p:grpSpPr>
          <a:xfrm>
            <a:off x="11034236" y="3490436"/>
            <a:ext cx="6255068" cy="2826067"/>
            <a:chOff x="0" y="0"/>
            <a:chExt cx="8340090" cy="3768090"/>
          </a:xfrm>
        </p:grpSpPr>
        <p:sp>
          <p:nvSpPr>
            <p:cNvPr id="33" name="Freeform 33"/>
            <p:cNvSpPr/>
            <p:nvPr/>
          </p:nvSpPr>
          <p:spPr>
            <a:xfrm>
              <a:off x="0" y="0"/>
              <a:ext cx="8340090" cy="3768090"/>
            </a:xfrm>
            <a:custGeom>
              <a:avLst/>
              <a:gdLst/>
              <a:ahLst/>
              <a:cxnLst/>
              <a:rect l="l" t="t" r="r" b="b"/>
              <a:pathLst>
                <a:path w="8340090" h="3768090">
                  <a:moveTo>
                    <a:pt x="0" y="628015"/>
                  </a:moveTo>
                  <a:cubicBezTo>
                    <a:pt x="0" y="281178"/>
                    <a:pt x="281178" y="0"/>
                    <a:pt x="628015" y="0"/>
                  </a:cubicBezTo>
                  <a:lnTo>
                    <a:pt x="7712075" y="0"/>
                  </a:lnTo>
                  <a:cubicBezTo>
                    <a:pt x="8058912" y="0"/>
                    <a:pt x="8340090" y="281178"/>
                    <a:pt x="8340090" y="628015"/>
                  </a:cubicBezTo>
                  <a:lnTo>
                    <a:pt x="8340090" y="3140075"/>
                  </a:lnTo>
                  <a:cubicBezTo>
                    <a:pt x="8340090" y="3486912"/>
                    <a:pt x="8058912" y="3768090"/>
                    <a:pt x="7712075" y="3768090"/>
                  </a:cubicBezTo>
                  <a:lnTo>
                    <a:pt x="628015" y="3768090"/>
                  </a:lnTo>
                  <a:cubicBezTo>
                    <a:pt x="281178" y="3768090"/>
                    <a:pt x="0" y="3486912"/>
                    <a:pt x="0" y="3140075"/>
                  </a:cubicBezTo>
                  <a:close/>
                </a:path>
              </a:pathLst>
            </a:custGeom>
            <a:solidFill>
              <a:srgbClr val="F4F7FA"/>
            </a:solidFill>
            <a:ln w="14288" cap="sq">
              <a:solidFill>
                <a:srgbClr val="D2DAE2"/>
              </a:solidFill>
              <a:prstDash val="solid"/>
              <a:miter/>
            </a:ln>
          </p:spPr>
        </p:sp>
      </p:grpSp>
      <p:grpSp>
        <p:nvGrpSpPr>
          <p:cNvPr id="34" name="Group 34"/>
          <p:cNvGrpSpPr/>
          <p:nvPr/>
        </p:nvGrpSpPr>
        <p:grpSpPr>
          <a:xfrm>
            <a:off x="11041380" y="3497580"/>
            <a:ext cx="109728" cy="2811780"/>
            <a:chOff x="0" y="0"/>
            <a:chExt cx="146304" cy="3749040"/>
          </a:xfrm>
        </p:grpSpPr>
        <p:sp>
          <p:nvSpPr>
            <p:cNvPr id="35" name="Freeform 35"/>
            <p:cNvSpPr/>
            <p:nvPr/>
          </p:nvSpPr>
          <p:spPr>
            <a:xfrm>
              <a:off x="0" y="0"/>
              <a:ext cx="146304" cy="3749040"/>
            </a:xfrm>
            <a:custGeom>
              <a:avLst/>
              <a:gdLst/>
              <a:ahLst/>
              <a:cxnLst/>
              <a:rect l="l" t="t" r="r" b="b"/>
              <a:pathLst>
                <a:path w="146304" h="3749040">
                  <a:moveTo>
                    <a:pt x="0" y="0"/>
                  </a:moveTo>
                  <a:lnTo>
                    <a:pt x="146304" y="0"/>
                  </a:lnTo>
                  <a:lnTo>
                    <a:pt x="146304" y="3749040"/>
                  </a:lnTo>
                  <a:lnTo>
                    <a:pt x="0" y="3749040"/>
                  </a:lnTo>
                  <a:close/>
                </a:path>
              </a:pathLst>
            </a:custGeom>
            <a:solidFill>
              <a:srgbClr val="2769B4"/>
            </a:solidFill>
          </p:spPr>
        </p:sp>
      </p:grpSp>
      <p:sp>
        <p:nvSpPr>
          <p:cNvPr id="36" name="TextBox 36"/>
          <p:cNvSpPr txBox="1"/>
          <p:nvPr/>
        </p:nvSpPr>
        <p:spPr>
          <a:xfrm>
            <a:off x="11475720" y="3742563"/>
            <a:ext cx="5440680" cy="436245"/>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TARGET USERS / BENEFICIARIES</a:t>
            </a:r>
          </a:p>
        </p:txBody>
      </p:sp>
      <p:sp>
        <p:nvSpPr>
          <p:cNvPr id="37" name="TextBox 37"/>
          <p:cNvSpPr txBox="1"/>
          <p:nvPr/>
        </p:nvSpPr>
        <p:spPr>
          <a:xfrm>
            <a:off x="11475720" y="4346067"/>
            <a:ext cx="5440680" cy="1524000"/>
          </a:xfrm>
          <a:prstGeom prst="rect">
            <a:avLst/>
          </a:prstGeom>
        </p:spPr>
        <p:txBody>
          <a:bodyPr lIns="0" tIns="0" rIns="0" bIns="0" rtlCol="0" anchor="t">
            <a:spAutoFit/>
          </a:bodyPr>
          <a:lstStyle/>
          <a:p>
            <a:pPr algn="l">
              <a:lnSpc>
                <a:spcPts val="2399"/>
              </a:lnSpc>
            </a:pPr>
            <a:r>
              <a:rPr lang="en-US" sz="1999" b="1">
                <a:solidFill>
                  <a:srgbClr val="697684"/>
                </a:solidFill>
                <a:latin typeface="Calibri (MS) Bold"/>
                <a:ea typeface="Calibri (MS) Bold"/>
                <a:cs typeface="Calibri (MS) Bold"/>
                <a:sym typeface="Calibri (MS) Bold"/>
              </a:rPr>
              <a:t>Primary:</a:t>
            </a:r>
            <a:r>
              <a:rPr lang="en-US" sz="1999">
                <a:solidFill>
                  <a:srgbClr val="697684"/>
                </a:solidFill>
                <a:latin typeface="Calibri (MS)"/>
                <a:ea typeface="Calibri (MS)"/>
                <a:cs typeface="Calibri (MS)"/>
                <a:sym typeface="Calibri (MS)"/>
              </a:rPr>
              <a:t> Visually impaired individuals</a:t>
            </a:r>
          </a:p>
          <a:p>
            <a:pPr algn="l">
              <a:lnSpc>
                <a:spcPts val="2399"/>
              </a:lnSpc>
            </a:pPr>
            <a:r>
              <a:rPr lang="en-US" sz="1999" b="1">
                <a:solidFill>
                  <a:srgbClr val="697684"/>
                </a:solidFill>
                <a:latin typeface="Calibri (MS) Bold"/>
                <a:ea typeface="Calibri (MS) Bold"/>
                <a:cs typeface="Calibri (MS) Bold"/>
                <a:sym typeface="Calibri (MS) Bold"/>
              </a:rPr>
              <a:t>Secondary:</a:t>
            </a:r>
            <a:r>
              <a:rPr lang="en-US" sz="1999">
                <a:solidFill>
                  <a:srgbClr val="697684"/>
                </a:solidFill>
                <a:latin typeface="Calibri (MS)"/>
                <a:ea typeface="Calibri (MS)"/>
                <a:cs typeface="Calibri (MS)"/>
                <a:sym typeface="Calibri (MS)"/>
              </a:rPr>
              <a:t> Elderly and low-vision users</a:t>
            </a:r>
          </a:p>
          <a:p>
            <a:pPr algn="l">
              <a:lnSpc>
                <a:spcPts val="2399"/>
              </a:lnSpc>
            </a:pPr>
            <a:r>
              <a:rPr lang="en-US" sz="1999" b="1">
                <a:solidFill>
                  <a:srgbClr val="697684"/>
                </a:solidFill>
                <a:latin typeface="Calibri (MS) Bold"/>
                <a:ea typeface="Calibri (MS) Bold"/>
                <a:cs typeface="Calibri (MS) Bold"/>
                <a:sym typeface="Calibri (MS) Bold"/>
              </a:rPr>
              <a:t>Application:</a:t>
            </a:r>
            <a:r>
              <a:rPr lang="en-US" sz="1999">
                <a:solidFill>
                  <a:srgbClr val="697684"/>
                </a:solidFill>
                <a:latin typeface="Calibri (MS)"/>
                <a:ea typeface="Calibri (MS)"/>
                <a:cs typeface="Calibri (MS)"/>
                <a:sym typeface="Calibri (MS)"/>
              </a:rPr>
              <a:t> Assistive healthcare, rehabilitation and independent living</a:t>
            </a:r>
          </a:p>
          <a:p>
            <a:pPr algn="l">
              <a:lnSpc>
                <a:spcPts val="2399"/>
              </a:lnSpc>
            </a:pPr>
            <a:endParaRPr lang="en-US" sz="1999">
              <a:solidFill>
                <a:srgbClr val="697684"/>
              </a:solidFill>
              <a:latin typeface="Calibri (MS)"/>
              <a:ea typeface="Calibri (MS)"/>
              <a:cs typeface="Calibri (MS)"/>
              <a:sym typeface="Calibri (MS)"/>
            </a:endParaRPr>
          </a:p>
        </p:txBody>
      </p:sp>
      <p:grpSp>
        <p:nvGrpSpPr>
          <p:cNvPr id="38" name="Group 38"/>
          <p:cNvGrpSpPr/>
          <p:nvPr/>
        </p:nvGrpSpPr>
        <p:grpSpPr>
          <a:xfrm>
            <a:off x="884396" y="6645116"/>
            <a:ext cx="16404907" cy="2140267"/>
            <a:chOff x="0" y="0"/>
            <a:chExt cx="21873210" cy="2853690"/>
          </a:xfrm>
        </p:grpSpPr>
        <p:sp>
          <p:nvSpPr>
            <p:cNvPr id="39" name="Freeform 39"/>
            <p:cNvSpPr/>
            <p:nvPr/>
          </p:nvSpPr>
          <p:spPr>
            <a:xfrm>
              <a:off x="0" y="0"/>
              <a:ext cx="21873211" cy="2853690"/>
            </a:xfrm>
            <a:custGeom>
              <a:avLst/>
              <a:gdLst/>
              <a:ahLst/>
              <a:cxnLst/>
              <a:rect l="l" t="t" r="r" b="b"/>
              <a:pathLst>
                <a:path w="21873211" h="2853690">
                  <a:moveTo>
                    <a:pt x="0" y="475615"/>
                  </a:moveTo>
                  <a:cubicBezTo>
                    <a:pt x="0" y="212979"/>
                    <a:pt x="212979" y="0"/>
                    <a:pt x="475615" y="0"/>
                  </a:cubicBezTo>
                  <a:lnTo>
                    <a:pt x="21397595" y="0"/>
                  </a:lnTo>
                  <a:cubicBezTo>
                    <a:pt x="21660231" y="0"/>
                    <a:pt x="21873211" y="212979"/>
                    <a:pt x="21873211" y="475615"/>
                  </a:cubicBezTo>
                  <a:lnTo>
                    <a:pt x="21873211" y="2378075"/>
                  </a:lnTo>
                  <a:cubicBezTo>
                    <a:pt x="21873211" y="2640711"/>
                    <a:pt x="21660231" y="2853690"/>
                    <a:pt x="21397595" y="2853690"/>
                  </a:cubicBezTo>
                  <a:lnTo>
                    <a:pt x="475615" y="2853690"/>
                  </a:lnTo>
                  <a:cubicBezTo>
                    <a:pt x="212979" y="2853690"/>
                    <a:pt x="0" y="2640711"/>
                    <a:pt x="0" y="2378075"/>
                  </a:cubicBezTo>
                  <a:close/>
                </a:path>
              </a:pathLst>
            </a:custGeom>
            <a:solidFill>
              <a:srgbClr val="F4F7FA"/>
            </a:solidFill>
            <a:ln w="14288" cap="sq">
              <a:solidFill>
                <a:srgbClr val="D2DAE2"/>
              </a:solidFill>
              <a:prstDash val="solid"/>
              <a:miter/>
            </a:ln>
          </p:spPr>
        </p:sp>
      </p:grpSp>
      <p:grpSp>
        <p:nvGrpSpPr>
          <p:cNvPr id="40" name="Group 40"/>
          <p:cNvGrpSpPr/>
          <p:nvPr/>
        </p:nvGrpSpPr>
        <p:grpSpPr>
          <a:xfrm>
            <a:off x="891540" y="6652260"/>
            <a:ext cx="109728" cy="2125980"/>
            <a:chOff x="0" y="0"/>
            <a:chExt cx="146304" cy="2834640"/>
          </a:xfrm>
        </p:grpSpPr>
        <p:sp>
          <p:nvSpPr>
            <p:cNvPr id="41" name="Freeform 41"/>
            <p:cNvSpPr/>
            <p:nvPr/>
          </p:nvSpPr>
          <p:spPr>
            <a:xfrm>
              <a:off x="0" y="0"/>
              <a:ext cx="146304" cy="2834640"/>
            </a:xfrm>
            <a:custGeom>
              <a:avLst/>
              <a:gdLst/>
              <a:ahLst/>
              <a:cxnLst/>
              <a:rect l="l" t="t" r="r" b="b"/>
              <a:pathLst>
                <a:path w="146304" h="2834640">
                  <a:moveTo>
                    <a:pt x="0" y="0"/>
                  </a:moveTo>
                  <a:lnTo>
                    <a:pt x="146304" y="0"/>
                  </a:lnTo>
                  <a:lnTo>
                    <a:pt x="146304" y="2834640"/>
                  </a:lnTo>
                  <a:lnTo>
                    <a:pt x="0" y="2834640"/>
                  </a:lnTo>
                  <a:close/>
                </a:path>
              </a:pathLst>
            </a:custGeom>
            <a:solidFill>
              <a:srgbClr val="EB7E22"/>
            </a:solidFill>
          </p:spPr>
        </p:sp>
      </p:grpSp>
      <p:sp>
        <p:nvSpPr>
          <p:cNvPr id="42" name="TextBox 42"/>
          <p:cNvSpPr txBox="1"/>
          <p:nvPr/>
        </p:nvSpPr>
        <p:spPr>
          <a:xfrm>
            <a:off x="1325880" y="6897243"/>
            <a:ext cx="15590520" cy="436245"/>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KEY PAIN POINTS</a:t>
            </a:r>
          </a:p>
        </p:txBody>
      </p:sp>
      <p:sp>
        <p:nvSpPr>
          <p:cNvPr id="43" name="TextBox 43"/>
          <p:cNvSpPr txBox="1"/>
          <p:nvPr/>
        </p:nvSpPr>
        <p:spPr>
          <a:xfrm>
            <a:off x="1532645" y="7413784"/>
            <a:ext cx="15590520" cy="1371600"/>
          </a:xfrm>
          <a:prstGeom prst="rect">
            <a:avLst/>
          </a:prstGeom>
        </p:spPr>
        <p:txBody>
          <a:bodyPr lIns="0" tIns="0" rIns="0" bIns="0" rtlCol="0" anchor="t">
            <a:spAutoFit/>
          </a:bodyPr>
          <a:lstStyle/>
          <a:p>
            <a:pPr algn="l">
              <a:lnSpc>
                <a:spcPts val="2160"/>
              </a:lnSpc>
            </a:pPr>
            <a:r>
              <a:rPr lang="en-US" sz="1800">
                <a:solidFill>
                  <a:srgbClr val="697684"/>
                </a:solidFill>
                <a:latin typeface="Calibri (MS)"/>
                <a:ea typeface="Calibri (MS)"/>
                <a:cs typeface="Calibri (MS)"/>
                <a:sym typeface="Calibri (MS)"/>
              </a:rPr>
              <a:t>1. Difficulty identifying ingredients</a:t>
            </a:r>
          </a:p>
          <a:p>
            <a:pPr algn="l">
              <a:lnSpc>
                <a:spcPts val="2160"/>
              </a:lnSpc>
            </a:pPr>
            <a:r>
              <a:rPr lang="en-US" sz="1800">
                <a:solidFill>
                  <a:srgbClr val="697684"/>
                </a:solidFill>
                <a:latin typeface="Calibri (MS)"/>
                <a:ea typeface="Calibri (MS)"/>
                <a:cs typeface="Calibri (MS)"/>
                <a:sym typeface="Calibri (MS)"/>
              </a:rPr>
              <a:t>2. Difficulty following cooking steps</a:t>
            </a:r>
          </a:p>
          <a:p>
            <a:pPr algn="l">
              <a:lnSpc>
                <a:spcPts val="2160"/>
              </a:lnSpc>
            </a:pPr>
            <a:r>
              <a:rPr lang="en-US" sz="1800">
                <a:solidFill>
                  <a:srgbClr val="697684"/>
                </a:solidFill>
                <a:latin typeface="Calibri (MS)"/>
                <a:ea typeface="Calibri (MS)"/>
                <a:cs typeface="Calibri (MS)"/>
                <a:sym typeface="Calibri (MS)"/>
              </a:rPr>
              <a:t>3. Risk of burns, gas leaks and cooking mistakes</a:t>
            </a:r>
          </a:p>
          <a:p>
            <a:pPr algn="l">
              <a:lnSpc>
                <a:spcPts val="2160"/>
              </a:lnSpc>
            </a:pPr>
            <a:r>
              <a:rPr lang="en-US" sz="1800">
                <a:solidFill>
                  <a:srgbClr val="697684"/>
                </a:solidFill>
                <a:latin typeface="Calibri (MS)"/>
                <a:ea typeface="Calibri (MS)"/>
                <a:cs typeface="Calibri (MS)"/>
                <a:sym typeface="Calibri (MS)"/>
              </a:rPr>
              <a:t>4. Dependence on caregivers for daily cooking</a:t>
            </a:r>
          </a:p>
          <a:p>
            <a:pPr algn="l">
              <a:lnSpc>
                <a:spcPts val="2160"/>
              </a:lnSpc>
            </a:pPr>
            <a:endParaRPr lang="en-US" sz="1800">
              <a:solidFill>
                <a:srgbClr val="697684"/>
              </a:solidFill>
              <a:latin typeface="Calibri (MS)"/>
              <a:ea typeface="Calibri (MS)"/>
              <a:cs typeface="Calibri (MS)"/>
              <a:sym typeface="Calibri (MS)"/>
            </a:endParaRPr>
          </a:p>
        </p:txBody>
      </p:sp>
      <p:sp>
        <p:nvSpPr>
          <p:cNvPr id="44" name="TextBox 44"/>
          <p:cNvSpPr txBox="1"/>
          <p:nvPr/>
        </p:nvSpPr>
        <p:spPr>
          <a:xfrm>
            <a:off x="914400" y="9782937"/>
            <a:ext cx="16413480" cy="280035"/>
          </a:xfrm>
          <a:prstGeom prst="rect">
            <a:avLst/>
          </a:prstGeom>
        </p:spPr>
        <p:txBody>
          <a:bodyPr lIns="0" tIns="0" rIns="0" bIns="0" rtlCol="0" anchor="t">
            <a:spAutoFit/>
          </a:bodyPr>
          <a:lstStyle/>
          <a:p>
            <a:pPr algn="r">
              <a:lnSpc>
                <a:spcPts val="1620"/>
              </a:lnSpc>
            </a:pPr>
            <a:r>
              <a:rPr lang="en-US" sz="1350">
                <a:solidFill>
                  <a:srgbClr val="697684"/>
                </a:solidFill>
                <a:latin typeface="Calibri (MS)"/>
                <a:ea typeface="Calibri (MS)"/>
                <a:cs typeface="Calibri (MS)"/>
                <a:sym typeface="Calibri (MS)"/>
              </a:rPr>
              <a:t>MSME Idea Hackathon 6.0  |  1/5  |  CITBIF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FFFFF"/>
            </a:solidFill>
          </p:spPr>
        </p:sp>
      </p:grpSp>
      <p:grpSp>
        <p:nvGrpSpPr>
          <p:cNvPr id="4" name="Group 4"/>
          <p:cNvGrpSpPr/>
          <p:nvPr/>
        </p:nvGrpSpPr>
        <p:grpSpPr>
          <a:xfrm>
            <a:off x="0" y="0"/>
            <a:ext cx="219456" cy="10287000"/>
            <a:chOff x="0" y="0"/>
            <a:chExt cx="292608" cy="13716000"/>
          </a:xfrm>
        </p:grpSpPr>
        <p:sp>
          <p:nvSpPr>
            <p:cNvPr id="5" name="Freeform 5"/>
            <p:cNvSpPr/>
            <p:nvPr/>
          </p:nvSpPr>
          <p:spPr>
            <a:xfrm>
              <a:off x="0" y="0"/>
              <a:ext cx="292608" cy="13716000"/>
            </a:xfrm>
            <a:custGeom>
              <a:avLst/>
              <a:gdLst/>
              <a:ahLst/>
              <a:cxnLst/>
              <a:rect l="l" t="t" r="r" b="b"/>
              <a:pathLst>
                <a:path w="292608" h="13716000">
                  <a:moveTo>
                    <a:pt x="0" y="0"/>
                  </a:moveTo>
                  <a:lnTo>
                    <a:pt x="292608" y="0"/>
                  </a:lnTo>
                  <a:lnTo>
                    <a:pt x="292608" y="13716000"/>
                  </a:lnTo>
                  <a:lnTo>
                    <a:pt x="0" y="13716000"/>
                  </a:lnTo>
                  <a:close/>
                </a:path>
              </a:pathLst>
            </a:custGeom>
            <a:solidFill>
              <a:srgbClr val="2769B4"/>
            </a:solidFill>
          </p:spPr>
        </p:sp>
      </p:grpSp>
      <p:sp>
        <p:nvSpPr>
          <p:cNvPr id="6" name="TextBox 6"/>
          <p:cNvSpPr txBox="1"/>
          <p:nvPr/>
        </p:nvSpPr>
        <p:spPr>
          <a:xfrm>
            <a:off x="845820" y="500253"/>
            <a:ext cx="914400" cy="729615"/>
          </a:xfrm>
          <a:prstGeom prst="rect">
            <a:avLst/>
          </a:prstGeom>
        </p:spPr>
        <p:txBody>
          <a:bodyPr lIns="0" tIns="0" rIns="0" bIns="0" rtlCol="0" anchor="t">
            <a:spAutoFit/>
          </a:bodyPr>
          <a:lstStyle/>
          <a:p>
            <a:pPr algn="l">
              <a:lnSpc>
                <a:spcPts val="4320"/>
              </a:lnSpc>
            </a:pPr>
            <a:r>
              <a:rPr lang="en-US" sz="3600" b="1">
                <a:solidFill>
                  <a:srgbClr val="2769B4"/>
                </a:solidFill>
                <a:latin typeface="Calibri (MS) Bold"/>
                <a:ea typeface="Calibri (MS) Bold"/>
                <a:cs typeface="Calibri (MS) Bold"/>
                <a:sym typeface="Calibri (MS) Bold"/>
              </a:rPr>
              <a:t>02</a:t>
            </a:r>
          </a:p>
        </p:txBody>
      </p:sp>
      <p:sp>
        <p:nvSpPr>
          <p:cNvPr id="7" name="TextBox 7"/>
          <p:cNvSpPr txBox="1"/>
          <p:nvPr/>
        </p:nvSpPr>
        <p:spPr>
          <a:xfrm>
            <a:off x="1805940" y="408432"/>
            <a:ext cx="14630400" cy="944880"/>
          </a:xfrm>
          <a:prstGeom prst="rect">
            <a:avLst/>
          </a:prstGeom>
        </p:spPr>
        <p:txBody>
          <a:bodyPr lIns="0" tIns="0" rIns="0" bIns="0" rtlCol="0" anchor="t">
            <a:spAutoFit/>
          </a:bodyPr>
          <a:lstStyle/>
          <a:p>
            <a:pPr algn="l">
              <a:lnSpc>
                <a:spcPts val="4680"/>
              </a:lnSpc>
            </a:pPr>
            <a:r>
              <a:rPr lang="en-US" sz="3900" b="1">
                <a:solidFill>
                  <a:srgbClr val="122F52"/>
                </a:solidFill>
                <a:latin typeface="Calibri (MS) Bold"/>
                <a:ea typeface="Calibri (MS) Bold"/>
                <a:cs typeface="Calibri (MS) Bold"/>
                <a:sym typeface="Calibri (MS) Bold"/>
              </a:rPr>
              <a:t>Proposed Solution</a:t>
            </a:r>
          </a:p>
        </p:txBody>
      </p:sp>
      <p:grpSp>
        <p:nvGrpSpPr>
          <p:cNvPr id="8" name="Group 8"/>
          <p:cNvGrpSpPr/>
          <p:nvPr/>
        </p:nvGrpSpPr>
        <p:grpSpPr>
          <a:xfrm>
            <a:off x="884396" y="1638776"/>
            <a:ext cx="5500688" cy="6597968"/>
            <a:chOff x="0" y="0"/>
            <a:chExt cx="7334250" cy="8797290"/>
          </a:xfrm>
        </p:grpSpPr>
        <p:sp>
          <p:nvSpPr>
            <p:cNvPr id="9" name="Freeform 9"/>
            <p:cNvSpPr/>
            <p:nvPr/>
          </p:nvSpPr>
          <p:spPr>
            <a:xfrm>
              <a:off x="0" y="0"/>
              <a:ext cx="7334250" cy="8797290"/>
            </a:xfrm>
            <a:custGeom>
              <a:avLst/>
              <a:gdLst/>
              <a:ahLst/>
              <a:cxnLst/>
              <a:rect l="l" t="t" r="r" b="b"/>
              <a:pathLst>
                <a:path w="7334250" h="8797290">
                  <a:moveTo>
                    <a:pt x="0" y="1222375"/>
                  </a:moveTo>
                  <a:cubicBezTo>
                    <a:pt x="0" y="547243"/>
                    <a:pt x="547243" y="0"/>
                    <a:pt x="1222375" y="0"/>
                  </a:cubicBezTo>
                  <a:lnTo>
                    <a:pt x="6111875" y="0"/>
                  </a:lnTo>
                  <a:cubicBezTo>
                    <a:pt x="6787007" y="0"/>
                    <a:pt x="7334250" y="547243"/>
                    <a:pt x="7334250" y="1222375"/>
                  </a:cubicBezTo>
                  <a:lnTo>
                    <a:pt x="7334250" y="7574915"/>
                  </a:lnTo>
                  <a:cubicBezTo>
                    <a:pt x="7334250" y="8250047"/>
                    <a:pt x="6787007" y="8797290"/>
                    <a:pt x="6111875" y="8797290"/>
                  </a:cubicBezTo>
                  <a:lnTo>
                    <a:pt x="1222375" y="8797290"/>
                  </a:lnTo>
                  <a:cubicBezTo>
                    <a:pt x="547243" y="8797290"/>
                    <a:pt x="0" y="8250047"/>
                    <a:pt x="0" y="7574915"/>
                  </a:cubicBezTo>
                  <a:close/>
                </a:path>
              </a:pathLst>
            </a:custGeom>
            <a:solidFill>
              <a:srgbClr val="F4F7FA"/>
            </a:solidFill>
            <a:ln w="14288" cap="sq">
              <a:solidFill>
                <a:srgbClr val="D2DAE2"/>
              </a:solidFill>
              <a:prstDash val="solid"/>
              <a:miter/>
            </a:ln>
          </p:spPr>
        </p:sp>
      </p:grpSp>
      <p:grpSp>
        <p:nvGrpSpPr>
          <p:cNvPr id="10" name="Group 10"/>
          <p:cNvGrpSpPr/>
          <p:nvPr/>
        </p:nvGrpSpPr>
        <p:grpSpPr>
          <a:xfrm>
            <a:off x="891540" y="1645920"/>
            <a:ext cx="109728" cy="6583680"/>
            <a:chOff x="0" y="0"/>
            <a:chExt cx="146304" cy="8778240"/>
          </a:xfrm>
        </p:grpSpPr>
        <p:sp>
          <p:nvSpPr>
            <p:cNvPr id="11" name="Freeform 11"/>
            <p:cNvSpPr/>
            <p:nvPr/>
          </p:nvSpPr>
          <p:spPr>
            <a:xfrm>
              <a:off x="0" y="0"/>
              <a:ext cx="146304" cy="8778240"/>
            </a:xfrm>
            <a:custGeom>
              <a:avLst/>
              <a:gdLst/>
              <a:ahLst/>
              <a:cxnLst/>
              <a:rect l="l" t="t" r="r" b="b"/>
              <a:pathLst>
                <a:path w="146304" h="8778240">
                  <a:moveTo>
                    <a:pt x="0" y="0"/>
                  </a:moveTo>
                  <a:lnTo>
                    <a:pt x="146304" y="0"/>
                  </a:lnTo>
                  <a:lnTo>
                    <a:pt x="146304" y="8778240"/>
                  </a:lnTo>
                  <a:lnTo>
                    <a:pt x="0" y="8778240"/>
                  </a:lnTo>
                  <a:close/>
                </a:path>
              </a:pathLst>
            </a:custGeom>
            <a:solidFill>
              <a:srgbClr val="2769B4"/>
            </a:solidFill>
          </p:spPr>
        </p:sp>
      </p:grpSp>
      <p:sp>
        <p:nvSpPr>
          <p:cNvPr id="12" name="TextBox 12"/>
          <p:cNvSpPr txBox="1"/>
          <p:nvPr/>
        </p:nvSpPr>
        <p:spPr>
          <a:xfrm>
            <a:off x="1325880" y="1890903"/>
            <a:ext cx="4686300" cy="436245"/>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PROPOSED INNOVATION</a:t>
            </a:r>
          </a:p>
        </p:txBody>
      </p:sp>
      <p:sp>
        <p:nvSpPr>
          <p:cNvPr id="13" name="TextBox 13"/>
          <p:cNvSpPr txBox="1"/>
          <p:nvPr/>
        </p:nvSpPr>
        <p:spPr>
          <a:xfrm>
            <a:off x="1325880" y="2494407"/>
            <a:ext cx="4686300" cy="5719514"/>
          </a:xfrm>
          <a:prstGeom prst="rect">
            <a:avLst/>
          </a:prstGeom>
        </p:spPr>
        <p:txBody>
          <a:bodyPr lIns="0" tIns="0" rIns="0" bIns="0" rtlCol="0" anchor="t">
            <a:spAutoFit/>
          </a:bodyPr>
          <a:lstStyle/>
          <a:p>
            <a:pPr marL="431799" lvl="1" indent="-215899" algn="l">
              <a:lnSpc>
                <a:spcPts val="2399"/>
              </a:lnSpc>
              <a:spcAft>
                <a:spcPts val="800"/>
              </a:spcAft>
              <a:buFont typeface="Arial"/>
              <a:buChar char="•"/>
            </a:pPr>
            <a:r>
              <a:rPr lang="en-US" sz="1999" dirty="0" err="1">
                <a:solidFill>
                  <a:srgbClr val="697684"/>
                </a:solidFill>
                <a:latin typeface="Calibri (MS)"/>
                <a:ea typeface="Calibri (MS)"/>
                <a:cs typeface="Calibri (MS)"/>
                <a:sym typeface="Calibri (MS)"/>
              </a:rPr>
              <a:t>VisionChef</a:t>
            </a:r>
            <a:r>
              <a:rPr lang="en-US" sz="1999" dirty="0">
                <a:solidFill>
                  <a:srgbClr val="697684"/>
                </a:solidFill>
                <a:latin typeface="Calibri (MS)"/>
                <a:ea typeface="Calibri (MS)"/>
                <a:cs typeface="Calibri (MS)"/>
                <a:sym typeface="Calibri (MS)"/>
              </a:rPr>
              <a:t> is an assistive cooking system that combines lightweight smart glasses, Edge AI, a smart pantry and kitchen safety sensors. </a:t>
            </a:r>
          </a:p>
          <a:p>
            <a:pPr marL="431799" lvl="1" indent="-215899" algn="l">
              <a:lnSpc>
                <a:spcPts val="2399"/>
              </a:lnSpc>
              <a:spcAft>
                <a:spcPts val="800"/>
              </a:spcAft>
              <a:buFont typeface="Arial"/>
              <a:buChar char="•"/>
            </a:pPr>
            <a:r>
              <a:rPr lang="en-US" sz="1999" dirty="0">
                <a:solidFill>
                  <a:srgbClr val="697684"/>
                </a:solidFill>
                <a:latin typeface="Calibri (MS)"/>
                <a:ea typeface="Calibri (MS)"/>
                <a:cs typeface="Calibri (MS)"/>
                <a:sym typeface="Calibri (MS)"/>
              </a:rPr>
              <a:t>The glasses capture the user's view and voice, while a Raspberry Pi 5 based Edge AI Hub processes the information locally. </a:t>
            </a:r>
          </a:p>
          <a:p>
            <a:pPr marL="431799" lvl="1" indent="-215899" algn="l">
              <a:lnSpc>
                <a:spcPts val="2399"/>
              </a:lnSpc>
              <a:spcAft>
                <a:spcPts val="800"/>
              </a:spcAft>
              <a:buFont typeface="Arial"/>
              <a:buChar char="•"/>
            </a:pPr>
            <a:r>
              <a:rPr lang="en-US" sz="1999" dirty="0">
                <a:solidFill>
                  <a:srgbClr val="697684"/>
                </a:solidFill>
                <a:latin typeface="Calibri (MS)"/>
                <a:ea typeface="Calibri (MS)"/>
                <a:cs typeface="Calibri (MS)"/>
                <a:sym typeface="Calibri (MS)"/>
              </a:rPr>
              <a:t>It identifies ingredients, understands the cooking step, detects common mistakes and provides voice guidance.</a:t>
            </a:r>
          </a:p>
          <a:p>
            <a:pPr marL="431799" lvl="1" indent="-215899" algn="l">
              <a:lnSpc>
                <a:spcPts val="2399"/>
              </a:lnSpc>
              <a:spcAft>
                <a:spcPts val="800"/>
              </a:spcAft>
              <a:buFont typeface="Arial"/>
              <a:buChar char="•"/>
            </a:pPr>
            <a:r>
              <a:rPr lang="en-US" sz="1999" dirty="0">
                <a:solidFill>
                  <a:srgbClr val="697684"/>
                </a:solidFill>
                <a:latin typeface="Calibri (MS)"/>
                <a:ea typeface="Calibri (MS)"/>
                <a:cs typeface="Calibri (MS)"/>
                <a:sym typeface="Calibri (MS)"/>
              </a:rPr>
              <a:t>The system is designed specifically for independent cooking rather than general object detection. </a:t>
            </a:r>
          </a:p>
          <a:p>
            <a:pPr marL="431799" lvl="1" indent="-215899" algn="l">
              <a:lnSpc>
                <a:spcPts val="2399"/>
              </a:lnSpc>
              <a:spcAft>
                <a:spcPts val="800"/>
              </a:spcAft>
              <a:buFont typeface="Arial"/>
              <a:buChar char="•"/>
            </a:pPr>
            <a:r>
              <a:rPr lang="en-US" sz="1999" dirty="0">
                <a:solidFill>
                  <a:srgbClr val="697684"/>
                </a:solidFill>
                <a:latin typeface="Calibri (MS)"/>
                <a:ea typeface="Calibri (MS)"/>
                <a:cs typeface="Calibri (MS)"/>
                <a:sym typeface="Calibri (MS)"/>
              </a:rPr>
              <a:t>It also includes a physical camera shutter, local processing and multilingual voice interaction for privacy and accessibility.</a:t>
            </a:r>
          </a:p>
          <a:p>
            <a:pPr algn="l">
              <a:lnSpc>
                <a:spcPts val="2160"/>
              </a:lnSpc>
            </a:pPr>
            <a:endParaRPr lang="en-US" sz="1999" dirty="0">
              <a:solidFill>
                <a:srgbClr val="697684"/>
              </a:solidFill>
              <a:latin typeface="Calibri (MS)"/>
              <a:ea typeface="Calibri (MS)"/>
              <a:cs typeface="Calibri (MS)"/>
              <a:sym typeface="Calibri (MS)"/>
            </a:endParaRPr>
          </a:p>
        </p:txBody>
      </p:sp>
      <p:grpSp>
        <p:nvGrpSpPr>
          <p:cNvPr id="14" name="Group 14"/>
          <p:cNvGrpSpPr/>
          <p:nvPr/>
        </p:nvGrpSpPr>
        <p:grpSpPr>
          <a:xfrm>
            <a:off x="6782276" y="1638776"/>
            <a:ext cx="4746308" cy="2003108"/>
            <a:chOff x="0" y="0"/>
            <a:chExt cx="6328410" cy="2670810"/>
          </a:xfrm>
        </p:grpSpPr>
        <p:sp>
          <p:nvSpPr>
            <p:cNvPr id="15" name="Freeform 15"/>
            <p:cNvSpPr/>
            <p:nvPr/>
          </p:nvSpPr>
          <p:spPr>
            <a:xfrm>
              <a:off x="0" y="0"/>
              <a:ext cx="6328410" cy="2670810"/>
            </a:xfrm>
            <a:custGeom>
              <a:avLst/>
              <a:gdLst/>
              <a:ahLst/>
              <a:cxnLst/>
              <a:rect l="l" t="t" r="r" b="b"/>
              <a:pathLst>
                <a:path w="6328410" h="2670810">
                  <a:moveTo>
                    <a:pt x="0" y="445135"/>
                  </a:moveTo>
                  <a:cubicBezTo>
                    <a:pt x="0" y="199263"/>
                    <a:pt x="199263" y="0"/>
                    <a:pt x="445135" y="0"/>
                  </a:cubicBezTo>
                  <a:lnTo>
                    <a:pt x="5883275" y="0"/>
                  </a:lnTo>
                  <a:cubicBezTo>
                    <a:pt x="6129147" y="0"/>
                    <a:pt x="6328410" y="199263"/>
                    <a:pt x="6328410" y="445135"/>
                  </a:cubicBezTo>
                  <a:lnTo>
                    <a:pt x="6328410" y="2225675"/>
                  </a:lnTo>
                  <a:cubicBezTo>
                    <a:pt x="6328410" y="2471547"/>
                    <a:pt x="6129147" y="2670810"/>
                    <a:pt x="5883275" y="2670810"/>
                  </a:cubicBezTo>
                  <a:lnTo>
                    <a:pt x="445135" y="2670810"/>
                  </a:lnTo>
                  <a:cubicBezTo>
                    <a:pt x="199263" y="2670810"/>
                    <a:pt x="0" y="2471547"/>
                    <a:pt x="0" y="2225675"/>
                  </a:cubicBezTo>
                  <a:close/>
                </a:path>
              </a:pathLst>
            </a:custGeom>
            <a:solidFill>
              <a:srgbClr val="F4F7FA"/>
            </a:solidFill>
            <a:ln w="14288" cap="sq">
              <a:solidFill>
                <a:srgbClr val="D2DAE2"/>
              </a:solidFill>
              <a:prstDash val="solid"/>
              <a:miter/>
            </a:ln>
          </p:spPr>
        </p:sp>
      </p:grpSp>
      <p:grpSp>
        <p:nvGrpSpPr>
          <p:cNvPr id="16" name="Group 16"/>
          <p:cNvGrpSpPr/>
          <p:nvPr/>
        </p:nvGrpSpPr>
        <p:grpSpPr>
          <a:xfrm>
            <a:off x="6789420" y="1645920"/>
            <a:ext cx="109728" cy="1988820"/>
            <a:chOff x="0" y="0"/>
            <a:chExt cx="146304" cy="2651760"/>
          </a:xfrm>
        </p:grpSpPr>
        <p:sp>
          <p:nvSpPr>
            <p:cNvPr id="17" name="Freeform 17"/>
            <p:cNvSpPr/>
            <p:nvPr/>
          </p:nvSpPr>
          <p:spPr>
            <a:xfrm>
              <a:off x="0" y="0"/>
              <a:ext cx="146304" cy="2651760"/>
            </a:xfrm>
            <a:custGeom>
              <a:avLst/>
              <a:gdLst/>
              <a:ahLst/>
              <a:cxnLst/>
              <a:rect l="l" t="t" r="r" b="b"/>
              <a:pathLst>
                <a:path w="146304" h="2651760">
                  <a:moveTo>
                    <a:pt x="0" y="0"/>
                  </a:moveTo>
                  <a:lnTo>
                    <a:pt x="146304" y="0"/>
                  </a:lnTo>
                  <a:lnTo>
                    <a:pt x="146304" y="2651760"/>
                  </a:lnTo>
                  <a:lnTo>
                    <a:pt x="0" y="2651760"/>
                  </a:lnTo>
                  <a:close/>
                </a:path>
              </a:pathLst>
            </a:custGeom>
            <a:solidFill>
              <a:srgbClr val="EB7E22"/>
            </a:solidFill>
          </p:spPr>
        </p:sp>
      </p:grpSp>
      <p:sp>
        <p:nvSpPr>
          <p:cNvPr id="18" name="TextBox 18"/>
          <p:cNvSpPr txBox="1"/>
          <p:nvPr/>
        </p:nvSpPr>
        <p:spPr>
          <a:xfrm>
            <a:off x="7223760" y="1890903"/>
            <a:ext cx="3931920" cy="361950"/>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Ingredient Recognition</a:t>
            </a:r>
          </a:p>
        </p:txBody>
      </p:sp>
      <p:sp>
        <p:nvSpPr>
          <p:cNvPr id="19" name="TextBox 19"/>
          <p:cNvSpPr txBox="1"/>
          <p:nvPr/>
        </p:nvSpPr>
        <p:spPr>
          <a:xfrm>
            <a:off x="7299198" y="2296001"/>
            <a:ext cx="3931920" cy="1228725"/>
          </a:xfrm>
          <a:prstGeom prst="rect">
            <a:avLst/>
          </a:prstGeom>
        </p:spPr>
        <p:txBody>
          <a:bodyPr lIns="0" tIns="0" rIns="0" bIns="0" rtlCol="0" anchor="t">
            <a:spAutoFit/>
          </a:bodyPr>
          <a:lstStyle/>
          <a:p>
            <a:pPr algn="l">
              <a:lnSpc>
                <a:spcPts val="2399"/>
              </a:lnSpc>
            </a:pPr>
            <a:r>
              <a:rPr lang="en-US" sz="1999">
                <a:solidFill>
                  <a:srgbClr val="697684"/>
                </a:solidFill>
                <a:latin typeface="Calibri (MS)"/>
                <a:ea typeface="Calibri (MS)"/>
                <a:cs typeface="Calibri (MS)"/>
                <a:sym typeface="Calibri (MS)"/>
              </a:rPr>
              <a:t>Identifies common ingredients and kitchen utensils using the camera and AI vision.</a:t>
            </a:r>
          </a:p>
          <a:p>
            <a:pPr algn="l">
              <a:lnSpc>
                <a:spcPts val="2399"/>
              </a:lnSpc>
            </a:pPr>
            <a:endParaRPr lang="en-US" sz="1999">
              <a:solidFill>
                <a:srgbClr val="697684"/>
              </a:solidFill>
              <a:latin typeface="Calibri (MS)"/>
              <a:ea typeface="Calibri (MS)"/>
              <a:cs typeface="Calibri (MS)"/>
              <a:sym typeface="Calibri (MS)"/>
            </a:endParaRPr>
          </a:p>
        </p:txBody>
      </p:sp>
      <p:grpSp>
        <p:nvGrpSpPr>
          <p:cNvPr id="20" name="Group 20"/>
          <p:cNvGrpSpPr/>
          <p:nvPr/>
        </p:nvGrpSpPr>
        <p:grpSpPr>
          <a:xfrm>
            <a:off x="12131516" y="1638776"/>
            <a:ext cx="4746308" cy="2003108"/>
            <a:chOff x="0" y="0"/>
            <a:chExt cx="6328410" cy="2670810"/>
          </a:xfrm>
        </p:grpSpPr>
        <p:sp>
          <p:nvSpPr>
            <p:cNvPr id="21" name="Freeform 21"/>
            <p:cNvSpPr/>
            <p:nvPr/>
          </p:nvSpPr>
          <p:spPr>
            <a:xfrm>
              <a:off x="0" y="0"/>
              <a:ext cx="6328410" cy="2670810"/>
            </a:xfrm>
            <a:custGeom>
              <a:avLst/>
              <a:gdLst/>
              <a:ahLst/>
              <a:cxnLst/>
              <a:rect l="l" t="t" r="r" b="b"/>
              <a:pathLst>
                <a:path w="6328410" h="2670810">
                  <a:moveTo>
                    <a:pt x="0" y="445135"/>
                  </a:moveTo>
                  <a:cubicBezTo>
                    <a:pt x="0" y="199263"/>
                    <a:pt x="199263" y="0"/>
                    <a:pt x="445135" y="0"/>
                  </a:cubicBezTo>
                  <a:lnTo>
                    <a:pt x="5883275" y="0"/>
                  </a:lnTo>
                  <a:cubicBezTo>
                    <a:pt x="6129147" y="0"/>
                    <a:pt x="6328410" y="199263"/>
                    <a:pt x="6328410" y="445135"/>
                  </a:cubicBezTo>
                  <a:lnTo>
                    <a:pt x="6328410" y="2225675"/>
                  </a:lnTo>
                  <a:cubicBezTo>
                    <a:pt x="6328410" y="2471547"/>
                    <a:pt x="6129147" y="2670810"/>
                    <a:pt x="5883275" y="2670810"/>
                  </a:cubicBezTo>
                  <a:lnTo>
                    <a:pt x="445135" y="2670810"/>
                  </a:lnTo>
                  <a:cubicBezTo>
                    <a:pt x="199263" y="2670810"/>
                    <a:pt x="0" y="2471547"/>
                    <a:pt x="0" y="2225675"/>
                  </a:cubicBezTo>
                  <a:close/>
                </a:path>
              </a:pathLst>
            </a:custGeom>
            <a:solidFill>
              <a:srgbClr val="F4F7FA"/>
            </a:solidFill>
            <a:ln w="14288" cap="sq">
              <a:solidFill>
                <a:srgbClr val="D2DAE2"/>
              </a:solidFill>
              <a:prstDash val="solid"/>
              <a:miter/>
            </a:ln>
          </p:spPr>
        </p:sp>
      </p:grpSp>
      <p:grpSp>
        <p:nvGrpSpPr>
          <p:cNvPr id="22" name="Group 22"/>
          <p:cNvGrpSpPr/>
          <p:nvPr/>
        </p:nvGrpSpPr>
        <p:grpSpPr>
          <a:xfrm>
            <a:off x="12138660" y="1645920"/>
            <a:ext cx="109728" cy="1988820"/>
            <a:chOff x="0" y="0"/>
            <a:chExt cx="146304" cy="2651760"/>
          </a:xfrm>
        </p:grpSpPr>
        <p:sp>
          <p:nvSpPr>
            <p:cNvPr id="23" name="Freeform 23"/>
            <p:cNvSpPr/>
            <p:nvPr/>
          </p:nvSpPr>
          <p:spPr>
            <a:xfrm>
              <a:off x="0" y="0"/>
              <a:ext cx="146304" cy="2651760"/>
            </a:xfrm>
            <a:custGeom>
              <a:avLst/>
              <a:gdLst/>
              <a:ahLst/>
              <a:cxnLst/>
              <a:rect l="l" t="t" r="r" b="b"/>
              <a:pathLst>
                <a:path w="146304" h="2651760">
                  <a:moveTo>
                    <a:pt x="0" y="0"/>
                  </a:moveTo>
                  <a:lnTo>
                    <a:pt x="146304" y="0"/>
                  </a:lnTo>
                  <a:lnTo>
                    <a:pt x="146304" y="2651760"/>
                  </a:lnTo>
                  <a:lnTo>
                    <a:pt x="0" y="2651760"/>
                  </a:lnTo>
                  <a:close/>
                </a:path>
              </a:pathLst>
            </a:custGeom>
            <a:solidFill>
              <a:srgbClr val="2D9169"/>
            </a:solidFill>
          </p:spPr>
        </p:sp>
      </p:grpSp>
      <p:sp>
        <p:nvSpPr>
          <p:cNvPr id="24" name="TextBox 24"/>
          <p:cNvSpPr txBox="1"/>
          <p:nvPr/>
        </p:nvSpPr>
        <p:spPr>
          <a:xfrm>
            <a:off x="12573000" y="1890903"/>
            <a:ext cx="3931920" cy="361950"/>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Step-by-Step Cooking Guide</a:t>
            </a:r>
          </a:p>
        </p:txBody>
      </p:sp>
      <p:sp>
        <p:nvSpPr>
          <p:cNvPr id="25" name="TextBox 25"/>
          <p:cNvSpPr txBox="1"/>
          <p:nvPr/>
        </p:nvSpPr>
        <p:spPr>
          <a:xfrm>
            <a:off x="12573000" y="2296001"/>
            <a:ext cx="3931920" cy="904875"/>
          </a:xfrm>
          <a:prstGeom prst="rect">
            <a:avLst/>
          </a:prstGeom>
        </p:spPr>
        <p:txBody>
          <a:bodyPr lIns="0" tIns="0" rIns="0" bIns="0" rtlCol="0" anchor="t">
            <a:spAutoFit/>
          </a:bodyPr>
          <a:lstStyle/>
          <a:p>
            <a:pPr algn="l">
              <a:lnSpc>
                <a:spcPts val="2399"/>
              </a:lnSpc>
            </a:pPr>
            <a:r>
              <a:rPr lang="en-US" sz="1999">
                <a:solidFill>
                  <a:srgbClr val="697684"/>
                </a:solidFill>
                <a:latin typeface="Calibri (MS)"/>
                <a:ea typeface="Calibri (MS)"/>
                <a:cs typeface="Calibri (MS)"/>
                <a:sym typeface="Calibri (MS)"/>
              </a:rPr>
              <a:t>Provides spoken instructions based on the current recipe and cooking stage.</a:t>
            </a:r>
          </a:p>
          <a:p>
            <a:pPr algn="l">
              <a:lnSpc>
                <a:spcPts val="2160"/>
              </a:lnSpc>
            </a:pPr>
            <a:endParaRPr lang="en-US" sz="1999">
              <a:solidFill>
                <a:srgbClr val="697684"/>
              </a:solidFill>
              <a:latin typeface="Calibri (MS)"/>
              <a:ea typeface="Calibri (MS)"/>
              <a:cs typeface="Calibri (MS)"/>
              <a:sym typeface="Calibri (MS)"/>
            </a:endParaRPr>
          </a:p>
        </p:txBody>
      </p:sp>
      <p:grpSp>
        <p:nvGrpSpPr>
          <p:cNvPr id="26" name="Group 26"/>
          <p:cNvGrpSpPr/>
          <p:nvPr/>
        </p:nvGrpSpPr>
        <p:grpSpPr>
          <a:xfrm>
            <a:off x="6782276" y="4039076"/>
            <a:ext cx="4746308" cy="2003108"/>
            <a:chOff x="0" y="0"/>
            <a:chExt cx="6328410" cy="2670810"/>
          </a:xfrm>
        </p:grpSpPr>
        <p:sp>
          <p:nvSpPr>
            <p:cNvPr id="27" name="Freeform 27"/>
            <p:cNvSpPr/>
            <p:nvPr/>
          </p:nvSpPr>
          <p:spPr>
            <a:xfrm>
              <a:off x="0" y="0"/>
              <a:ext cx="6328410" cy="2670810"/>
            </a:xfrm>
            <a:custGeom>
              <a:avLst/>
              <a:gdLst/>
              <a:ahLst/>
              <a:cxnLst/>
              <a:rect l="l" t="t" r="r" b="b"/>
              <a:pathLst>
                <a:path w="6328410" h="2670810">
                  <a:moveTo>
                    <a:pt x="0" y="445135"/>
                  </a:moveTo>
                  <a:cubicBezTo>
                    <a:pt x="0" y="199263"/>
                    <a:pt x="199263" y="0"/>
                    <a:pt x="445135" y="0"/>
                  </a:cubicBezTo>
                  <a:lnTo>
                    <a:pt x="5883275" y="0"/>
                  </a:lnTo>
                  <a:cubicBezTo>
                    <a:pt x="6129147" y="0"/>
                    <a:pt x="6328410" y="199263"/>
                    <a:pt x="6328410" y="445135"/>
                  </a:cubicBezTo>
                  <a:lnTo>
                    <a:pt x="6328410" y="2225675"/>
                  </a:lnTo>
                  <a:cubicBezTo>
                    <a:pt x="6328410" y="2471547"/>
                    <a:pt x="6129147" y="2670810"/>
                    <a:pt x="5883275" y="2670810"/>
                  </a:cubicBezTo>
                  <a:lnTo>
                    <a:pt x="445135" y="2670810"/>
                  </a:lnTo>
                  <a:cubicBezTo>
                    <a:pt x="199263" y="2670810"/>
                    <a:pt x="0" y="2471547"/>
                    <a:pt x="0" y="2225675"/>
                  </a:cubicBezTo>
                  <a:close/>
                </a:path>
              </a:pathLst>
            </a:custGeom>
            <a:solidFill>
              <a:srgbClr val="F4F7FA"/>
            </a:solidFill>
            <a:ln w="14288" cap="sq">
              <a:solidFill>
                <a:srgbClr val="D2DAE2"/>
              </a:solidFill>
              <a:prstDash val="solid"/>
              <a:miter/>
            </a:ln>
          </p:spPr>
        </p:sp>
      </p:grpSp>
      <p:grpSp>
        <p:nvGrpSpPr>
          <p:cNvPr id="28" name="Group 28"/>
          <p:cNvGrpSpPr/>
          <p:nvPr/>
        </p:nvGrpSpPr>
        <p:grpSpPr>
          <a:xfrm>
            <a:off x="6789420" y="4046220"/>
            <a:ext cx="109728" cy="1988820"/>
            <a:chOff x="0" y="0"/>
            <a:chExt cx="146304" cy="2651760"/>
          </a:xfrm>
        </p:grpSpPr>
        <p:sp>
          <p:nvSpPr>
            <p:cNvPr id="29" name="Freeform 29"/>
            <p:cNvSpPr/>
            <p:nvPr/>
          </p:nvSpPr>
          <p:spPr>
            <a:xfrm>
              <a:off x="0" y="0"/>
              <a:ext cx="146304" cy="2651760"/>
            </a:xfrm>
            <a:custGeom>
              <a:avLst/>
              <a:gdLst/>
              <a:ahLst/>
              <a:cxnLst/>
              <a:rect l="l" t="t" r="r" b="b"/>
              <a:pathLst>
                <a:path w="146304" h="2651760">
                  <a:moveTo>
                    <a:pt x="0" y="0"/>
                  </a:moveTo>
                  <a:lnTo>
                    <a:pt x="146304" y="0"/>
                  </a:lnTo>
                  <a:lnTo>
                    <a:pt x="146304" y="2651760"/>
                  </a:lnTo>
                  <a:lnTo>
                    <a:pt x="0" y="2651760"/>
                  </a:lnTo>
                  <a:close/>
                </a:path>
              </a:pathLst>
            </a:custGeom>
            <a:solidFill>
              <a:srgbClr val="2769B4"/>
            </a:solidFill>
          </p:spPr>
        </p:sp>
      </p:grpSp>
      <p:sp>
        <p:nvSpPr>
          <p:cNvPr id="30" name="TextBox 30"/>
          <p:cNvSpPr txBox="1"/>
          <p:nvPr/>
        </p:nvSpPr>
        <p:spPr>
          <a:xfrm>
            <a:off x="7223760" y="4291203"/>
            <a:ext cx="3931920" cy="361950"/>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Cooking Mistake Detection</a:t>
            </a:r>
          </a:p>
        </p:txBody>
      </p:sp>
      <p:sp>
        <p:nvSpPr>
          <p:cNvPr id="31" name="TextBox 31"/>
          <p:cNvSpPr txBox="1"/>
          <p:nvPr/>
        </p:nvSpPr>
        <p:spPr>
          <a:xfrm>
            <a:off x="7299198" y="4698873"/>
            <a:ext cx="3931920" cy="1200150"/>
          </a:xfrm>
          <a:prstGeom prst="rect">
            <a:avLst/>
          </a:prstGeom>
        </p:spPr>
        <p:txBody>
          <a:bodyPr lIns="0" tIns="0" rIns="0" bIns="0" rtlCol="0" anchor="t">
            <a:spAutoFit/>
          </a:bodyPr>
          <a:lstStyle/>
          <a:p>
            <a:pPr algn="l">
              <a:lnSpc>
                <a:spcPts val="2399"/>
              </a:lnSpc>
            </a:pPr>
            <a:r>
              <a:rPr lang="en-US" sz="1999" dirty="0">
                <a:solidFill>
                  <a:srgbClr val="697684"/>
                </a:solidFill>
                <a:latin typeface="Calibri (MS)"/>
                <a:ea typeface="Calibri (MS)"/>
                <a:cs typeface="Calibri (MS)"/>
                <a:sym typeface="Calibri (MS)"/>
              </a:rPr>
              <a:t>Warns the user when the wrong ingredient or cooking action is detected.</a:t>
            </a:r>
          </a:p>
          <a:p>
            <a:pPr algn="l">
              <a:lnSpc>
                <a:spcPts val="2160"/>
              </a:lnSpc>
            </a:pPr>
            <a:endParaRPr lang="en-US" sz="1999" dirty="0">
              <a:solidFill>
                <a:srgbClr val="697684"/>
              </a:solidFill>
              <a:latin typeface="Calibri (MS)"/>
              <a:ea typeface="Calibri (MS)"/>
              <a:cs typeface="Calibri (MS)"/>
              <a:sym typeface="Calibri (MS)"/>
            </a:endParaRPr>
          </a:p>
        </p:txBody>
      </p:sp>
      <p:grpSp>
        <p:nvGrpSpPr>
          <p:cNvPr id="32" name="Group 32"/>
          <p:cNvGrpSpPr/>
          <p:nvPr/>
        </p:nvGrpSpPr>
        <p:grpSpPr>
          <a:xfrm>
            <a:off x="12131516" y="4039076"/>
            <a:ext cx="4746308" cy="2003108"/>
            <a:chOff x="0" y="0"/>
            <a:chExt cx="6328410" cy="2670810"/>
          </a:xfrm>
        </p:grpSpPr>
        <p:sp>
          <p:nvSpPr>
            <p:cNvPr id="33" name="Freeform 33"/>
            <p:cNvSpPr/>
            <p:nvPr/>
          </p:nvSpPr>
          <p:spPr>
            <a:xfrm>
              <a:off x="0" y="0"/>
              <a:ext cx="6328410" cy="2670810"/>
            </a:xfrm>
            <a:custGeom>
              <a:avLst/>
              <a:gdLst/>
              <a:ahLst/>
              <a:cxnLst/>
              <a:rect l="l" t="t" r="r" b="b"/>
              <a:pathLst>
                <a:path w="6328410" h="2670810">
                  <a:moveTo>
                    <a:pt x="0" y="445135"/>
                  </a:moveTo>
                  <a:cubicBezTo>
                    <a:pt x="0" y="199263"/>
                    <a:pt x="199263" y="0"/>
                    <a:pt x="445135" y="0"/>
                  </a:cubicBezTo>
                  <a:lnTo>
                    <a:pt x="5883275" y="0"/>
                  </a:lnTo>
                  <a:cubicBezTo>
                    <a:pt x="6129147" y="0"/>
                    <a:pt x="6328410" y="199263"/>
                    <a:pt x="6328410" y="445135"/>
                  </a:cubicBezTo>
                  <a:lnTo>
                    <a:pt x="6328410" y="2225675"/>
                  </a:lnTo>
                  <a:cubicBezTo>
                    <a:pt x="6328410" y="2471547"/>
                    <a:pt x="6129147" y="2670810"/>
                    <a:pt x="5883275" y="2670810"/>
                  </a:cubicBezTo>
                  <a:lnTo>
                    <a:pt x="445135" y="2670810"/>
                  </a:lnTo>
                  <a:cubicBezTo>
                    <a:pt x="199263" y="2670810"/>
                    <a:pt x="0" y="2471547"/>
                    <a:pt x="0" y="2225675"/>
                  </a:cubicBezTo>
                  <a:close/>
                </a:path>
              </a:pathLst>
            </a:custGeom>
            <a:solidFill>
              <a:srgbClr val="F4F7FA"/>
            </a:solidFill>
            <a:ln w="14288" cap="sq">
              <a:solidFill>
                <a:srgbClr val="D2DAE2"/>
              </a:solidFill>
              <a:prstDash val="solid"/>
              <a:miter/>
            </a:ln>
          </p:spPr>
        </p:sp>
      </p:grpSp>
      <p:grpSp>
        <p:nvGrpSpPr>
          <p:cNvPr id="34" name="Group 34"/>
          <p:cNvGrpSpPr/>
          <p:nvPr/>
        </p:nvGrpSpPr>
        <p:grpSpPr>
          <a:xfrm>
            <a:off x="12138660" y="4046220"/>
            <a:ext cx="109728" cy="1988820"/>
            <a:chOff x="0" y="0"/>
            <a:chExt cx="146304" cy="2651760"/>
          </a:xfrm>
        </p:grpSpPr>
        <p:sp>
          <p:nvSpPr>
            <p:cNvPr id="35" name="Freeform 35"/>
            <p:cNvSpPr/>
            <p:nvPr/>
          </p:nvSpPr>
          <p:spPr>
            <a:xfrm>
              <a:off x="0" y="0"/>
              <a:ext cx="146304" cy="2651760"/>
            </a:xfrm>
            <a:custGeom>
              <a:avLst/>
              <a:gdLst/>
              <a:ahLst/>
              <a:cxnLst/>
              <a:rect l="l" t="t" r="r" b="b"/>
              <a:pathLst>
                <a:path w="146304" h="2651760">
                  <a:moveTo>
                    <a:pt x="0" y="0"/>
                  </a:moveTo>
                  <a:lnTo>
                    <a:pt x="146304" y="0"/>
                  </a:lnTo>
                  <a:lnTo>
                    <a:pt x="146304" y="2651760"/>
                  </a:lnTo>
                  <a:lnTo>
                    <a:pt x="0" y="2651760"/>
                  </a:lnTo>
                  <a:close/>
                </a:path>
              </a:pathLst>
            </a:custGeom>
            <a:solidFill>
              <a:srgbClr val="EB7E22"/>
            </a:solidFill>
          </p:spPr>
        </p:sp>
      </p:grpSp>
      <p:sp>
        <p:nvSpPr>
          <p:cNvPr id="36" name="TextBox 36"/>
          <p:cNvSpPr txBox="1"/>
          <p:nvPr/>
        </p:nvSpPr>
        <p:spPr>
          <a:xfrm>
            <a:off x="12573000" y="4291203"/>
            <a:ext cx="3931920" cy="361950"/>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Kitchen Safety Monitoring</a:t>
            </a:r>
          </a:p>
        </p:txBody>
      </p:sp>
      <p:sp>
        <p:nvSpPr>
          <p:cNvPr id="37" name="TextBox 37"/>
          <p:cNvSpPr txBox="1"/>
          <p:nvPr/>
        </p:nvSpPr>
        <p:spPr>
          <a:xfrm>
            <a:off x="12648438" y="4698873"/>
            <a:ext cx="3931920" cy="1200150"/>
          </a:xfrm>
          <a:prstGeom prst="rect">
            <a:avLst/>
          </a:prstGeom>
        </p:spPr>
        <p:txBody>
          <a:bodyPr lIns="0" tIns="0" rIns="0" bIns="0" rtlCol="0" anchor="t">
            <a:spAutoFit/>
          </a:bodyPr>
          <a:lstStyle/>
          <a:p>
            <a:pPr algn="l">
              <a:lnSpc>
                <a:spcPts val="2399"/>
              </a:lnSpc>
            </a:pPr>
            <a:r>
              <a:rPr lang="en-US" sz="1999">
                <a:solidFill>
                  <a:srgbClr val="697684"/>
                </a:solidFill>
                <a:latin typeface="Calibri (MS)"/>
                <a:ea typeface="Calibri (MS)"/>
                <a:cs typeface="Calibri (MS)"/>
                <a:sym typeface="Calibri (MS)"/>
              </a:rPr>
              <a:t>Detects risks such as gas leakage, smoke, flame and excessive temperature.</a:t>
            </a:r>
          </a:p>
          <a:p>
            <a:pPr algn="l">
              <a:lnSpc>
                <a:spcPts val="2160"/>
              </a:lnSpc>
            </a:pPr>
            <a:endParaRPr lang="en-US" sz="1999">
              <a:solidFill>
                <a:srgbClr val="697684"/>
              </a:solidFill>
              <a:latin typeface="Calibri (MS)"/>
              <a:ea typeface="Calibri (MS)"/>
              <a:cs typeface="Calibri (MS)"/>
              <a:sym typeface="Calibri (MS)"/>
            </a:endParaRPr>
          </a:p>
        </p:txBody>
      </p:sp>
      <p:grpSp>
        <p:nvGrpSpPr>
          <p:cNvPr id="38" name="Group 38"/>
          <p:cNvGrpSpPr/>
          <p:nvPr/>
        </p:nvGrpSpPr>
        <p:grpSpPr>
          <a:xfrm>
            <a:off x="6782276" y="6439376"/>
            <a:ext cx="4746308" cy="2003108"/>
            <a:chOff x="0" y="0"/>
            <a:chExt cx="6328410" cy="2670810"/>
          </a:xfrm>
        </p:grpSpPr>
        <p:sp>
          <p:nvSpPr>
            <p:cNvPr id="39" name="Freeform 39"/>
            <p:cNvSpPr/>
            <p:nvPr/>
          </p:nvSpPr>
          <p:spPr>
            <a:xfrm>
              <a:off x="0" y="0"/>
              <a:ext cx="6328410" cy="2670810"/>
            </a:xfrm>
            <a:custGeom>
              <a:avLst/>
              <a:gdLst/>
              <a:ahLst/>
              <a:cxnLst/>
              <a:rect l="l" t="t" r="r" b="b"/>
              <a:pathLst>
                <a:path w="6328410" h="2670810">
                  <a:moveTo>
                    <a:pt x="0" y="445135"/>
                  </a:moveTo>
                  <a:cubicBezTo>
                    <a:pt x="0" y="199263"/>
                    <a:pt x="199263" y="0"/>
                    <a:pt x="445135" y="0"/>
                  </a:cubicBezTo>
                  <a:lnTo>
                    <a:pt x="5883275" y="0"/>
                  </a:lnTo>
                  <a:cubicBezTo>
                    <a:pt x="6129147" y="0"/>
                    <a:pt x="6328410" y="199263"/>
                    <a:pt x="6328410" y="445135"/>
                  </a:cubicBezTo>
                  <a:lnTo>
                    <a:pt x="6328410" y="2225675"/>
                  </a:lnTo>
                  <a:cubicBezTo>
                    <a:pt x="6328410" y="2471547"/>
                    <a:pt x="6129147" y="2670810"/>
                    <a:pt x="5883275" y="2670810"/>
                  </a:cubicBezTo>
                  <a:lnTo>
                    <a:pt x="445135" y="2670810"/>
                  </a:lnTo>
                  <a:cubicBezTo>
                    <a:pt x="199263" y="2670810"/>
                    <a:pt x="0" y="2471547"/>
                    <a:pt x="0" y="2225675"/>
                  </a:cubicBezTo>
                  <a:close/>
                </a:path>
              </a:pathLst>
            </a:custGeom>
            <a:solidFill>
              <a:srgbClr val="F4F7FA"/>
            </a:solidFill>
            <a:ln w="14288" cap="sq">
              <a:solidFill>
                <a:srgbClr val="D2DAE2"/>
              </a:solidFill>
              <a:prstDash val="solid"/>
              <a:miter/>
            </a:ln>
          </p:spPr>
        </p:sp>
      </p:grpSp>
      <p:grpSp>
        <p:nvGrpSpPr>
          <p:cNvPr id="40" name="Group 40"/>
          <p:cNvGrpSpPr/>
          <p:nvPr/>
        </p:nvGrpSpPr>
        <p:grpSpPr>
          <a:xfrm>
            <a:off x="6789420" y="6446520"/>
            <a:ext cx="109728" cy="1988820"/>
            <a:chOff x="0" y="0"/>
            <a:chExt cx="146304" cy="2651760"/>
          </a:xfrm>
        </p:grpSpPr>
        <p:sp>
          <p:nvSpPr>
            <p:cNvPr id="41" name="Freeform 41"/>
            <p:cNvSpPr/>
            <p:nvPr/>
          </p:nvSpPr>
          <p:spPr>
            <a:xfrm>
              <a:off x="0" y="0"/>
              <a:ext cx="146304" cy="2651760"/>
            </a:xfrm>
            <a:custGeom>
              <a:avLst/>
              <a:gdLst/>
              <a:ahLst/>
              <a:cxnLst/>
              <a:rect l="l" t="t" r="r" b="b"/>
              <a:pathLst>
                <a:path w="146304" h="2651760">
                  <a:moveTo>
                    <a:pt x="0" y="0"/>
                  </a:moveTo>
                  <a:lnTo>
                    <a:pt x="146304" y="0"/>
                  </a:lnTo>
                  <a:lnTo>
                    <a:pt x="146304" y="2651760"/>
                  </a:lnTo>
                  <a:lnTo>
                    <a:pt x="0" y="2651760"/>
                  </a:lnTo>
                  <a:close/>
                </a:path>
              </a:pathLst>
            </a:custGeom>
            <a:solidFill>
              <a:srgbClr val="2D9169"/>
            </a:solidFill>
          </p:spPr>
        </p:sp>
      </p:grpSp>
      <p:sp>
        <p:nvSpPr>
          <p:cNvPr id="42" name="TextBox 42"/>
          <p:cNvSpPr txBox="1"/>
          <p:nvPr/>
        </p:nvSpPr>
        <p:spPr>
          <a:xfrm>
            <a:off x="7223760" y="6691503"/>
            <a:ext cx="3931920" cy="361950"/>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Smart Pantry</a:t>
            </a:r>
          </a:p>
        </p:txBody>
      </p:sp>
      <p:sp>
        <p:nvSpPr>
          <p:cNvPr id="43" name="TextBox 43"/>
          <p:cNvSpPr txBox="1"/>
          <p:nvPr/>
        </p:nvSpPr>
        <p:spPr>
          <a:xfrm>
            <a:off x="7299198" y="7080123"/>
            <a:ext cx="3931920" cy="923330"/>
          </a:xfrm>
          <a:prstGeom prst="rect">
            <a:avLst/>
          </a:prstGeom>
        </p:spPr>
        <p:txBody>
          <a:bodyPr lIns="0" tIns="0" rIns="0" bIns="0" rtlCol="0" anchor="t">
            <a:spAutoFit/>
          </a:bodyPr>
          <a:lstStyle/>
          <a:p>
            <a:pPr>
              <a:lnSpc>
                <a:spcPts val="2400"/>
              </a:lnSpc>
            </a:pPr>
            <a:r>
              <a:rPr lang="en-IN" sz="2000" dirty="0">
                <a:solidFill>
                  <a:srgbClr val="697684"/>
                </a:solidFill>
              </a:rPr>
              <a:t>Uses RFID/QR identification, tactile labels and voice guidance to help users locate ingredients.</a:t>
            </a:r>
            <a:endParaRPr lang="en-US" sz="2000" dirty="0">
              <a:solidFill>
                <a:srgbClr val="697684"/>
              </a:solidFill>
              <a:latin typeface="Calibri (MS)"/>
              <a:ea typeface="Calibri (MS)"/>
              <a:cs typeface="Calibri (MS)"/>
              <a:sym typeface="Calibri (MS)"/>
            </a:endParaRPr>
          </a:p>
        </p:txBody>
      </p:sp>
      <p:grpSp>
        <p:nvGrpSpPr>
          <p:cNvPr id="44" name="Group 44"/>
          <p:cNvGrpSpPr/>
          <p:nvPr/>
        </p:nvGrpSpPr>
        <p:grpSpPr>
          <a:xfrm>
            <a:off x="12131516" y="6439376"/>
            <a:ext cx="4746308" cy="2003108"/>
            <a:chOff x="0" y="0"/>
            <a:chExt cx="6328410" cy="2670810"/>
          </a:xfrm>
        </p:grpSpPr>
        <p:sp>
          <p:nvSpPr>
            <p:cNvPr id="45" name="Freeform 45"/>
            <p:cNvSpPr/>
            <p:nvPr/>
          </p:nvSpPr>
          <p:spPr>
            <a:xfrm>
              <a:off x="0" y="0"/>
              <a:ext cx="6328410" cy="2670810"/>
            </a:xfrm>
            <a:custGeom>
              <a:avLst/>
              <a:gdLst/>
              <a:ahLst/>
              <a:cxnLst/>
              <a:rect l="l" t="t" r="r" b="b"/>
              <a:pathLst>
                <a:path w="6328410" h="2670810">
                  <a:moveTo>
                    <a:pt x="0" y="445135"/>
                  </a:moveTo>
                  <a:cubicBezTo>
                    <a:pt x="0" y="199263"/>
                    <a:pt x="199263" y="0"/>
                    <a:pt x="445135" y="0"/>
                  </a:cubicBezTo>
                  <a:lnTo>
                    <a:pt x="5883275" y="0"/>
                  </a:lnTo>
                  <a:cubicBezTo>
                    <a:pt x="6129147" y="0"/>
                    <a:pt x="6328410" y="199263"/>
                    <a:pt x="6328410" y="445135"/>
                  </a:cubicBezTo>
                  <a:lnTo>
                    <a:pt x="6328410" y="2225675"/>
                  </a:lnTo>
                  <a:cubicBezTo>
                    <a:pt x="6328410" y="2471547"/>
                    <a:pt x="6129147" y="2670810"/>
                    <a:pt x="5883275" y="2670810"/>
                  </a:cubicBezTo>
                  <a:lnTo>
                    <a:pt x="445135" y="2670810"/>
                  </a:lnTo>
                  <a:cubicBezTo>
                    <a:pt x="199263" y="2670810"/>
                    <a:pt x="0" y="2471547"/>
                    <a:pt x="0" y="2225675"/>
                  </a:cubicBezTo>
                  <a:close/>
                </a:path>
              </a:pathLst>
            </a:custGeom>
            <a:solidFill>
              <a:srgbClr val="F4F7FA"/>
            </a:solidFill>
            <a:ln w="14288" cap="sq">
              <a:solidFill>
                <a:srgbClr val="D2DAE2"/>
              </a:solidFill>
              <a:prstDash val="solid"/>
              <a:miter/>
            </a:ln>
          </p:spPr>
        </p:sp>
      </p:grpSp>
      <p:grpSp>
        <p:nvGrpSpPr>
          <p:cNvPr id="46" name="Group 46"/>
          <p:cNvGrpSpPr/>
          <p:nvPr/>
        </p:nvGrpSpPr>
        <p:grpSpPr>
          <a:xfrm>
            <a:off x="12138660" y="6446520"/>
            <a:ext cx="109728" cy="1988820"/>
            <a:chOff x="0" y="0"/>
            <a:chExt cx="146304" cy="2651760"/>
          </a:xfrm>
        </p:grpSpPr>
        <p:sp>
          <p:nvSpPr>
            <p:cNvPr id="47" name="Freeform 47"/>
            <p:cNvSpPr/>
            <p:nvPr/>
          </p:nvSpPr>
          <p:spPr>
            <a:xfrm>
              <a:off x="0" y="0"/>
              <a:ext cx="146304" cy="2651760"/>
            </a:xfrm>
            <a:custGeom>
              <a:avLst/>
              <a:gdLst/>
              <a:ahLst/>
              <a:cxnLst/>
              <a:rect l="l" t="t" r="r" b="b"/>
              <a:pathLst>
                <a:path w="146304" h="2651760">
                  <a:moveTo>
                    <a:pt x="0" y="0"/>
                  </a:moveTo>
                  <a:lnTo>
                    <a:pt x="146304" y="0"/>
                  </a:lnTo>
                  <a:lnTo>
                    <a:pt x="146304" y="2651760"/>
                  </a:lnTo>
                  <a:lnTo>
                    <a:pt x="0" y="2651760"/>
                  </a:lnTo>
                  <a:close/>
                </a:path>
              </a:pathLst>
            </a:custGeom>
            <a:solidFill>
              <a:srgbClr val="2769B4"/>
            </a:solidFill>
          </p:spPr>
        </p:sp>
      </p:grpSp>
      <p:sp>
        <p:nvSpPr>
          <p:cNvPr id="48" name="TextBox 48"/>
          <p:cNvSpPr txBox="1"/>
          <p:nvPr/>
        </p:nvSpPr>
        <p:spPr>
          <a:xfrm>
            <a:off x="12573000" y="6691503"/>
            <a:ext cx="3931920" cy="361950"/>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Privacy &amp; Voice Assistant</a:t>
            </a:r>
          </a:p>
        </p:txBody>
      </p:sp>
      <p:sp>
        <p:nvSpPr>
          <p:cNvPr id="49" name="TextBox 49"/>
          <p:cNvSpPr txBox="1"/>
          <p:nvPr/>
        </p:nvSpPr>
        <p:spPr>
          <a:xfrm>
            <a:off x="12573000" y="7099173"/>
            <a:ext cx="3931920" cy="1200150"/>
          </a:xfrm>
          <a:prstGeom prst="rect">
            <a:avLst/>
          </a:prstGeom>
        </p:spPr>
        <p:txBody>
          <a:bodyPr lIns="0" tIns="0" rIns="0" bIns="0" rtlCol="0" anchor="t">
            <a:spAutoFit/>
          </a:bodyPr>
          <a:lstStyle/>
          <a:p>
            <a:pPr algn="l">
              <a:lnSpc>
                <a:spcPts val="2399"/>
              </a:lnSpc>
            </a:pPr>
            <a:r>
              <a:rPr lang="en-US" sz="1999" dirty="0">
                <a:solidFill>
                  <a:srgbClr val="697684"/>
                </a:solidFill>
                <a:latin typeface="Calibri (MS)"/>
                <a:ea typeface="Calibri (MS)"/>
                <a:cs typeface="Calibri (MS)"/>
                <a:sym typeface="Calibri (MS)"/>
              </a:rPr>
              <a:t>Uses local Edge AI, a physical camera shutter and multilingual voice interaction.</a:t>
            </a:r>
          </a:p>
          <a:p>
            <a:pPr algn="l">
              <a:lnSpc>
                <a:spcPts val="2160"/>
              </a:lnSpc>
            </a:pPr>
            <a:endParaRPr lang="en-US" sz="1999" dirty="0">
              <a:solidFill>
                <a:srgbClr val="697684"/>
              </a:solidFill>
              <a:latin typeface="Calibri (MS)"/>
              <a:ea typeface="Calibri (MS)"/>
              <a:cs typeface="Calibri (MS)"/>
              <a:sym typeface="Calibri (MS)"/>
            </a:endParaRPr>
          </a:p>
        </p:txBody>
      </p:sp>
      <p:grpSp>
        <p:nvGrpSpPr>
          <p:cNvPr id="50" name="Group 50"/>
          <p:cNvGrpSpPr/>
          <p:nvPr/>
        </p:nvGrpSpPr>
        <p:grpSpPr>
          <a:xfrm>
            <a:off x="884396" y="8566023"/>
            <a:ext cx="15993427" cy="1229487"/>
            <a:chOff x="0" y="0"/>
            <a:chExt cx="21324570" cy="1639316"/>
          </a:xfrm>
        </p:grpSpPr>
        <p:sp>
          <p:nvSpPr>
            <p:cNvPr id="51" name="Freeform 51"/>
            <p:cNvSpPr/>
            <p:nvPr/>
          </p:nvSpPr>
          <p:spPr>
            <a:xfrm>
              <a:off x="0" y="0"/>
              <a:ext cx="21324570" cy="1639316"/>
            </a:xfrm>
            <a:custGeom>
              <a:avLst/>
              <a:gdLst/>
              <a:ahLst/>
              <a:cxnLst/>
              <a:rect l="l" t="t" r="r" b="b"/>
              <a:pathLst>
                <a:path w="21324570" h="1639316">
                  <a:moveTo>
                    <a:pt x="0" y="273219"/>
                  </a:moveTo>
                  <a:cubicBezTo>
                    <a:pt x="0" y="122268"/>
                    <a:pt x="96901" y="0"/>
                    <a:pt x="216535" y="0"/>
                  </a:cubicBezTo>
                  <a:lnTo>
                    <a:pt x="21108036" y="0"/>
                  </a:lnTo>
                  <a:cubicBezTo>
                    <a:pt x="21227669" y="0"/>
                    <a:pt x="21324570" y="122268"/>
                    <a:pt x="21324570" y="273219"/>
                  </a:cubicBezTo>
                  <a:lnTo>
                    <a:pt x="21324570" y="1366097"/>
                  </a:lnTo>
                  <a:cubicBezTo>
                    <a:pt x="21324570" y="1517048"/>
                    <a:pt x="21227669" y="1639316"/>
                    <a:pt x="21108036" y="1639316"/>
                  </a:cubicBezTo>
                  <a:lnTo>
                    <a:pt x="216535" y="1639316"/>
                  </a:lnTo>
                  <a:cubicBezTo>
                    <a:pt x="96901" y="1639316"/>
                    <a:pt x="0" y="1517048"/>
                    <a:pt x="0" y="1366097"/>
                  </a:cubicBezTo>
                  <a:close/>
                </a:path>
              </a:pathLst>
            </a:custGeom>
            <a:solidFill>
              <a:srgbClr val="F4F7FA"/>
            </a:solidFill>
            <a:ln w="14288" cap="sq">
              <a:solidFill>
                <a:srgbClr val="D2DAE2"/>
              </a:solidFill>
              <a:prstDash val="solid"/>
              <a:miter/>
            </a:ln>
          </p:spPr>
        </p:sp>
      </p:grpSp>
      <p:grpSp>
        <p:nvGrpSpPr>
          <p:cNvPr id="52" name="Group 52"/>
          <p:cNvGrpSpPr/>
          <p:nvPr/>
        </p:nvGrpSpPr>
        <p:grpSpPr>
          <a:xfrm>
            <a:off x="914400" y="8435340"/>
            <a:ext cx="86868" cy="1360170"/>
            <a:chOff x="0" y="0"/>
            <a:chExt cx="81758" cy="1280160"/>
          </a:xfrm>
        </p:grpSpPr>
        <p:sp>
          <p:nvSpPr>
            <p:cNvPr id="53" name="Freeform 53"/>
            <p:cNvSpPr/>
            <p:nvPr/>
          </p:nvSpPr>
          <p:spPr>
            <a:xfrm>
              <a:off x="0" y="0"/>
              <a:ext cx="81758" cy="1280160"/>
            </a:xfrm>
            <a:custGeom>
              <a:avLst/>
              <a:gdLst/>
              <a:ahLst/>
              <a:cxnLst/>
              <a:rect l="l" t="t" r="r" b="b"/>
              <a:pathLst>
                <a:path w="81758" h="1280160">
                  <a:moveTo>
                    <a:pt x="0" y="0"/>
                  </a:moveTo>
                  <a:lnTo>
                    <a:pt x="81758" y="0"/>
                  </a:lnTo>
                  <a:lnTo>
                    <a:pt x="81758" y="1280160"/>
                  </a:lnTo>
                  <a:lnTo>
                    <a:pt x="0" y="1280160"/>
                  </a:lnTo>
                  <a:close/>
                </a:path>
              </a:pathLst>
            </a:custGeom>
            <a:solidFill>
              <a:srgbClr val="2D9169"/>
            </a:solidFill>
          </p:spPr>
        </p:sp>
      </p:grpSp>
      <p:sp>
        <p:nvSpPr>
          <p:cNvPr id="54" name="TextBox 54"/>
          <p:cNvSpPr txBox="1"/>
          <p:nvPr/>
        </p:nvSpPr>
        <p:spPr>
          <a:xfrm>
            <a:off x="1325880" y="8680323"/>
            <a:ext cx="15179040" cy="436245"/>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EXPECTED OUTCOME</a:t>
            </a:r>
          </a:p>
        </p:txBody>
      </p:sp>
      <p:sp>
        <p:nvSpPr>
          <p:cNvPr id="55" name="TextBox 55"/>
          <p:cNvSpPr txBox="1"/>
          <p:nvPr/>
        </p:nvSpPr>
        <p:spPr>
          <a:xfrm>
            <a:off x="914400" y="9900285"/>
            <a:ext cx="16413480" cy="280035"/>
          </a:xfrm>
          <a:prstGeom prst="rect">
            <a:avLst/>
          </a:prstGeom>
        </p:spPr>
        <p:txBody>
          <a:bodyPr lIns="0" tIns="0" rIns="0" bIns="0" rtlCol="0" anchor="t">
            <a:spAutoFit/>
          </a:bodyPr>
          <a:lstStyle/>
          <a:p>
            <a:pPr algn="r">
              <a:lnSpc>
                <a:spcPts val="1620"/>
              </a:lnSpc>
            </a:pPr>
            <a:r>
              <a:rPr lang="en-US" sz="1350">
                <a:solidFill>
                  <a:srgbClr val="697684"/>
                </a:solidFill>
                <a:latin typeface="Calibri (MS)"/>
                <a:ea typeface="Calibri (MS)"/>
                <a:cs typeface="Calibri (MS)"/>
                <a:sym typeface="Calibri (MS)"/>
              </a:rPr>
              <a:t>MSME Idea Hackathon 6.0  |  2/5  |  CITBIF</a:t>
            </a:r>
          </a:p>
        </p:txBody>
      </p:sp>
      <p:sp>
        <p:nvSpPr>
          <p:cNvPr id="56" name="TextBox 56"/>
          <p:cNvSpPr txBox="1"/>
          <p:nvPr/>
        </p:nvSpPr>
        <p:spPr>
          <a:xfrm>
            <a:off x="1696593" y="8999792"/>
            <a:ext cx="14883765" cy="638175"/>
          </a:xfrm>
          <a:prstGeom prst="rect">
            <a:avLst/>
          </a:prstGeom>
        </p:spPr>
        <p:txBody>
          <a:bodyPr lIns="0" tIns="0" rIns="0" bIns="0" rtlCol="0" anchor="t">
            <a:spAutoFit/>
          </a:bodyPr>
          <a:lstStyle/>
          <a:p>
            <a:pPr algn="l">
              <a:lnSpc>
                <a:spcPts val="2399"/>
              </a:lnSpc>
              <a:spcBef>
                <a:spcPct val="0"/>
              </a:spcBef>
            </a:pPr>
            <a:r>
              <a:rPr lang="en-US" sz="1999">
                <a:solidFill>
                  <a:srgbClr val="697684"/>
                </a:solidFill>
                <a:latin typeface="Calibri (MS)"/>
                <a:ea typeface="Calibri (MS)"/>
                <a:cs typeface="Calibri (MS)"/>
                <a:sym typeface="Calibri (MS)"/>
              </a:rPr>
              <a:t>Safer and more independent cooking, reduced dependence on caregivers, faster local assistance, improved privacy and a practical path toward an affordable commercial assistive product.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632" y="0"/>
            <a:ext cx="18287543" cy="10287000"/>
            <a:chOff x="0" y="0"/>
            <a:chExt cx="24383390" cy="13716000"/>
          </a:xfrm>
        </p:grpSpPr>
        <p:sp>
          <p:nvSpPr>
            <p:cNvPr id="3" name="Freeform 3"/>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FFFFF"/>
            </a:solidFill>
          </p:spPr>
        </p:sp>
      </p:grpSp>
      <p:grpSp>
        <p:nvGrpSpPr>
          <p:cNvPr id="4" name="Group 4"/>
          <p:cNvGrpSpPr/>
          <p:nvPr/>
        </p:nvGrpSpPr>
        <p:grpSpPr>
          <a:xfrm>
            <a:off x="0" y="0"/>
            <a:ext cx="219456" cy="10287000"/>
            <a:chOff x="0" y="0"/>
            <a:chExt cx="292608" cy="13716000"/>
          </a:xfrm>
        </p:grpSpPr>
        <p:sp>
          <p:nvSpPr>
            <p:cNvPr id="5" name="Freeform 5"/>
            <p:cNvSpPr/>
            <p:nvPr/>
          </p:nvSpPr>
          <p:spPr>
            <a:xfrm>
              <a:off x="0" y="0"/>
              <a:ext cx="292608" cy="13716000"/>
            </a:xfrm>
            <a:custGeom>
              <a:avLst/>
              <a:gdLst/>
              <a:ahLst/>
              <a:cxnLst/>
              <a:rect l="l" t="t" r="r" b="b"/>
              <a:pathLst>
                <a:path w="292608" h="13716000">
                  <a:moveTo>
                    <a:pt x="0" y="0"/>
                  </a:moveTo>
                  <a:lnTo>
                    <a:pt x="292608" y="0"/>
                  </a:lnTo>
                  <a:lnTo>
                    <a:pt x="292608" y="13716000"/>
                  </a:lnTo>
                  <a:lnTo>
                    <a:pt x="0" y="13716000"/>
                  </a:lnTo>
                  <a:close/>
                </a:path>
              </a:pathLst>
            </a:custGeom>
            <a:solidFill>
              <a:srgbClr val="2D9169"/>
            </a:solidFill>
          </p:spPr>
        </p:sp>
      </p:grpSp>
      <p:grpSp>
        <p:nvGrpSpPr>
          <p:cNvPr id="6" name="Group 6"/>
          <p:cNvGrpSpPr/>
          <p:nvPr/>
        </p:nvGrpSpPr>
        <p:grpSpPr>
          <a:xfrm>
            <a:off x="952976" y="5616416"/>
            <a:ext cx="5020628" cy="3936397"/>
            <a:chOff x="0" y="0"/>
            <a:chExt cx="6694170" cy="5248529"/>
          </a:xfrm>
        </p:grpSpPr>
        <p:sp>
          <p:nvSpPr>
            <p:cNvPr id="7" name="Freeform 7"/>
            <p:cNvSpPr/>
            <p:nvPr/>
          </p:nvSpPr>
          <p:spPr>
            <a:xfrm>
              <a:off x="0" y="0"/>
              <a:ext cx="6694170" cy="5248529"/>
            </a:xfrm>
            <a:custGeom>
              <a:avLst/>
              <a:gdLst/>
              <a:ahLst/>
              <a:cxnLst/>
              <a:rect l="l" t="t" r="r" b="b"/>
              <a:pathLst>
                <a:path w="6694170" h="5248529">
                  <a:moveTo>
                    <a:pt x="0" y="874755"/>
                  </a:moveTo>
                  <a:cubicBezTo>
                    <a:pt x="0" y="391725"/>
                    <a:pt x="240284" y="0"/>
                    <a:pt x="536575" y="0"/>
                  </a:cubicBezTo>
                  <a:lnTo>
                    <a:pt x="6157595" y="0"/>
                  </a:lnTo>
                  <a:cubicBezTo>
                    <a:pt x="6453886" y="0"/>
                    <a:pt x="6694170" y="391725"/>
                    <a:pt x="6694170" y="874755"/>
                  </a:cubicBezTo>
                  <a:lnTo>
                    <a:pt x="6694170" y="4373774"/>
                  </a:lnTo>
                  <a:cubicBezTo>
                    <a:pt x="6694170" y="4856804"/>
                    <a:pt x="6453886" y="5248529"/>
                    <a:pt x="6157595" y="5248529"/>
                  </a:cubicBezTo>
                  <a:lnTo>
                    <a:pt x="536575" y="5248529"/>
                  </a:lnTo>
                  <a:cubicBezTo>
                    <a:pt x="240284" y="5248529"/>
                    <a:pt x="0" y="4856804"/>
                    <a:pt x="0" y="4373774"/>
                  </a:cubicBezTo>
                  <a:close/>
                </a:path>
              </a:pathLst>
            </a:custGeom>
            <a:solidFill>
              <a:srgbClr val="F4F7FA"/>
            </a:solidFill>
            <a:ln w="14288" cap="sq">
              <a:solidFill>
                <a:srgbClr val="D2DAE2"/>
              </a:solidFill>
              <a:prstDash val="solid"/>
              <a:miter/>
            </a:ln>
          </p:spPr>
        </p:sp>
      </p:grpSp>
      <p:grpSp>
        <p:nvGrpSpPr>
          <p:cNvPr id="8" name="Group 8"/>
          <p:cNvGrpSpPr/>
          <p:nvPr/>
        </p:nvGrpSpPr>
        <p:grpSpPr>
          <a:xfrm>
            <a:off x="960120" y="5623560"/>
            <a:ext cx="139065" cy="3929253"/>
            <a:chOff x="0" y="0"/>
            <a:chExt cx="113269" cy="3200400"/>
          </a:xfrm>
        </p:grpSpPr>
        <p:sp>
          <p:nvSpPr>
            <p:cNvPr id="9" name="Freeform 9"/>
            <p:cNvSpPr/>
            <p:nvPr/>
          </p:nvSpPr>
          <p:spPr>
            <a:xfrm>
              <a:off x="0" y="0"/>
              <a:ext cx="113269" cy="3200400"/>
            </a:xfrm>
            <a:custGeom>
              <a:avLst/>
              <a:gdLst/>
              <a:ahLst/>
              <a:cxnLst/>
              <a:rect l="l" t="t" r="r" b="b"/>
              <a:pathLst>
                <a:path w="113269" h="3200400">
                  <a:moveTo>
                    <a:pt x="0" y="0"/>
                  </a:moveTo>
                  <a:lnTo>
                    <a:pt x="113269" y="0"/>
                  </a:lnTo>
                  <a:lnTo>
                    <a:pt x="113269" y="3200400"/>
                  </a:lnTo>
                  <a:lnTo>
                    <a:pt x="0" y="3200400"/>
                  </a:lnTo>
                  <a:close/>
                </a:path>
              </a:pathLst>
            </a:custGeom>
            <a:solidFill>
              <a:srgbClr val="2769B4"/>
            </a:solidFill>
          </p:spPr>
        </p:sp>
      </p:grpSp>
      <p:grpSp>
        <p:nvGrpSpPr>
          <p:cNvPr id="10" name="Group 10"/>
          <p:cNvGrpSpPr/>
          <p:nvPr/>
        </p:nvGrpSpPr>
        <p:grpSpPr>
          <a:xfrm>
            <a:off x="6370796" y="5616416"/>
            <a:ext cx="5020628" cy="3936397"/>
            <a:chOff x="0" y="0"/>
            <a:chExt cx="6694170" cy="5248529"/>
          </a:xfrm>
        </p:grpSpPr>
        <p:sp>
          <p:nvSpPr>
            <p:cNvPr id="11" name="Freeform 11"/>
            <p:cNvSpPr/>
            <p:nvPr/>
          </p:nvSpPr>
          <p:spPr>
            <a:xfrm>
              <a:off x="0" y="0"/>
              <a:ext cx="6694170" cy="5248529"/>
            </a:xfrm>
            <a:custGeom>
              <a:avLst/>
              <a:gdLst/>
              <a:ahLst/>
              <a:cxnLst/>
              <a:rect l="l" t="t" r="r" b="b"/>
              <a:pathLst>
                <a:path w="6694170" h="5248529">
                  <a:moveTo>
                    <a:pt x="0" y="874755"/>
                  </a:moveTo>
                  <a:cubicBezTo>
                    <a:pt x="0" y="391725"/>
                    <a:pt x="240284" y="0"/>
                    <a:pt x="536575" y="0"/>
                  </a:cubicBezTo>
                  <a:lnTo>
                    <a:pt x="6157595" y="0"/>
                  </a:lnTo>
                  <a:cubicBezTo>
                    <a:pt x="6453886" y="0"/>
                    <a:pt x="6694170" y="391725"/>
                    <a:pt x="6694170" y="874755"/>
                  </a:cubicBezTo>
                  <a:lnTo>
                    <a:pt x="6694170" y="4373774"/>
                  </a:lnTo>
                  <a:cubicBezTo>
                    <a:pt x="6694170" y="4856804"/>
                    <a:pt x="6453886" y="5248529"/>
                    <a:pt x="6157595" y="5248529"/>
                  </a:cubicBezTo>
                  <a:lnTo>
                    <a:pt x="536575" y="5248529"/>
                  </a:lnTo>
                  <a:cubicBezTo>
                    <a:pt x="240284" y="5248529"/>
                    <a:pt x="0" y="4856804"/>
                    <a:pt x="0" y="4373774"/>
                  </a:cubicBezTo>
                  <a:close/>
                </a:path>
              </a:pathLst>
            </a:custGeom>
            <a:solidFill>
              <a:srgbClr val="F4F7FA"/>
            </a:solidFill>
            <a:ln w="14288" cap="sq">
              <a:solidFill>
                <a:srgbClr val="D2DAE2"/>
              </a:solidFill>
              <a:prstDash val="solid"/>
              <a:miter/>
            </a:ln>
          </p:spPr>
        </p:sp>
      </p:grpSp>
      <p:grpSp>
        <p:nvGrpSpPr>
          <p:cNvPr id="12" name="Group 12"/>
          <p:cNvGrpSpPr/>
          <p:nvPr/>
        </p:nvGrpSpPr>
        <p:grpSpPr>
          <a:xfrm>
            <a:off x="6392942" y="5623560"/>
            <a:ext cx="124063" cy="3929253"/>
            <a:chOff x="0" y="0"/>
            <a:chExt cx="101050" cy="3200400"/>
          </a:xfrm>
        </p:grpSpPr>
        <p:sp>
          <p:nvSpPr>
            <p:cNvPr id="13" name="Freeform 13"/>
            <p:cNvSpPr/>
            <p:nvPr/>
          </p:nvSpPr>
          <p:spPr>
            <a:xfrm>
              <a:off x="0" y="0"/>
              <a:ext cx="101050" cy="3200400"/>
            </a:xfrm>
            <a:custGeom>
              <a:avLst/>
              <a:gdLst/>
              <a:ahLst/>
              <a:cxnLst/>
              <a:rect l="l" t="t" r="r" b="b"/>
              <a:pathLst>
                <a:path w="101050" h="3200400">
                  <a:moveTo>
                    <a:pt x="0" y="0"/>
                  </a:moveTo>
                  <a:lnTo>
                    <a:pt x="101050" y="0"/>
                  </a:lnTo>
                  <a:lnTo>
                    <a:pt x="101050" y="3200400"/>
                  </a:lnTo>
                  <a:lnTo>
                    <a:pt x="0" y="3200400"/>
                  </a:lnTo>
                  <a:close/>
                </a:path>
              </a:pathLst>
            </a:custGeom>
            <a:solidFill>
              <a:srgbClr val="2D9169"/>
            </a:solidFill>
          </p:spPr>
        </p:sp>
      </p:grpSp>
      <p:grpSp>
        <p:nvGrpSpPr>
          <p:cNvPr id="14" name="Group 14"/>
          <p:cNvGrpSpPr/>
          <p:nvPr/>
        </p:nvGrpSpPr>
        <p:grpSpPr>
          <a:xfrm>
            <a:off x="11788616" y="5616416"/>
            <a:ext cx="5020628" cy="3936397"/>
            <a:chOff x="0" y="0"/>
            <a:chExt cx="6694170" cy="5248529"/>
          </a:xfrm>
        </p:grpSpPr>
        <p:sp>
          <p:nvSpPr>
            <p:cNvPr id="15" name="Freeform 15"/>
            <p:cNvSpPr/>
            <p:nvPr/>
          </p:nvSpPr>
          <p:spPr>
            <a:xfrm>
              <a:off x="0" y="0"/>
              <a:ext cx="6694170" cy="5248529"/>
            </a:xfrm>
            <a:custGeom>
              <a:avLst/>
              <a:gdLst/>
              <a:ahLst/>
              <a:cxnLst/>
              <a:rect l="l" t="t" r="r" b="b"/>
              <a:pathLst>
                <a:path w="6694170" h="5248529">
                  <a:moveTo>
                    <a:pt x="0" y="874755"/>
                  </a:moveTo>
                  <a:cubicBezTo>
                    <a:pt x="0" y="391725"/>
                    <a:pt x="240284" y="0"/>
                    <a:pt x="536575" y="0"/>
                  </a:cubicBezTo>
                  <a:lnTo>
                    <a:pt x="6157595" y="0"/>
                  </a:lnTo>
                  <a:cubicBezTo>
                    <a:pt x="6453886" y="0"/>
                    <a:pt x="6694170" y="391725"/>
                    <a:pt x="6694170" y="874755"/>
                  </a:cubicBezTo>
                  <a:lnTo>
                    <a:pt x="6694170" y="4373774"/>
                  </a:lnTo>
                  <a:cubicBezTo>
                    <a:pt x="6694170" y="4856804"/>
                    <a:pt x="6453886" y="5248529"/>
                    <a:pt x="6157595" y="5248529"/>
                  </a:cubicBezTo>
                  <a:lnTo>
                    <a:pt x="536575" y="5248529"/>
                  </a:lnTo>
                  <a:cubicBezTo>
                    <a:pt x="240284" y="5248529"/>
                    <a:pt x="0" y="4856804"/>
                    <a:pt x="0" y="4373774"/>
                  </a:cubicBezTo>
                  <a:close/>
                </a:path>
              </a:pathLst>
            </a:custGeom>
            <a:solidFill>
              <a:srgbClr val="F4F7FA"/>
            </a:solidFill>
            <a:ln w="14288" cap="sq">
              <a:solidFill>
                <a:srgbClr val="D2DAE2"/>
              </a:solidFill>
              <a:prstDash val="solid"/>
              <a:miter/>
            </a:ln>
          </p:spPr>
        </p:sp>
      </p:grpSp>
      <p:grpSp>
        <p:nvGrpSpPr>
          <p:cNvPr id="16" name="Group 16"/>
          <p:cNvGrpSpPr/>
          <p:nvPr/>
        </p:nvGrpSpPr>
        <p:grpSpPr>
          <a:xfrm>
            <a:off x="11810762" y="5623560"/>
            <a:ext cx="123505" cy="3929253"/>
            <a:chOff x="0" y="0"/>
            <a:chExt cx="100596" cy="3200400"/>
          </a:xfrm>
        </p:grpSpPr>
        <p:sp>
          <p:nvSpPr>
            <p:cNvPr id="17" name="Freeform 17"/>
            <p:cNvSpPr/>
            <p:nvPr/>
          </p:nvSpPr>
          <p:spPr>
            <a:xfrm>
              <a:off x="0" y="0"/>
              <a:ext cx="100596" cy="3200400"/>
            </a:xfrm>
            <a:custGeom>
              <a:avLst/>
              <a:gdLst/>
              <a:ahLst/>
              <a:cxnLst/>
              <a:rect l="l" t="t" r="r" b="b"/>
              <a:pathLst>
                <a:path w="100596" h="3200400">
                  <a:moveTo>
                    <a:pt x="0" y="0"/>
                  </a:moveTo>
                  <a:lnTo>
                    <a:pt x="100596" y="0"/>
                  </a:lnTo>
                  <a:lnTo>
                    <a:pt x="100596" y="3200400"/>
                  </a:lnTo>
                  <a:lnTo>
                    <a:pt x="0" y="3200400"/>
                  </a:lnTo>
                  <a:close/>
                </a:path>
              </a:pathLst>
            </a:custGeom>
            <a:solidFill>
              <a:srgbClr val="EB7E22"/>
            </a:solidFill>
          </p:spPr>
        </p:sp>
      </p:grpSp>
      <p:sp>
        <p:nvSpPr>
          <p:cNvPr id="18" name="TextBox 18"/>
          <p:cNvSpPr txBox="1"/>
          <p:nvPr/>
        </p:nvSpPr>
        <p:spPr>
          <a:xfrm>
            <a:off x="641985" y="94488"/>
            <a:ext cx="914400" cy="729615"/>
          </a:xfrm>
          <a:prstGeom prst="rect">
            <a:avLst/>
          </a:prstGeom>
        </p:spPr>
        <p:txBody>
          <a:bodyPr lIns="0" tIns="0" rIns="0" bIns="0" rtlCol="0" anchor="t">
            <a:spAutoFit/>
          </a:bodyPr>
          <a:lstStyle/>
          <a:p>
            <a:pPr algn="l">
              <a:lnSpc>
                <a:spcPts val="4320"/>
              </a:lnSpc>
            </a:pPr>
            <a:r>
              <a:rPr lang="en-US" sz="3600" b="1" dirty="0">
                <a:solidFill>
                  <a:srgbClr val="2D9169"/>
                </a:solidFill>
                <a:latin typeface="Calibri (MS) Bold"/>
                <a:ea typeface="Calibri (MS) Bold"/>
                <a:cs typeface="Calibri (MS) Bold"/>
                <a:sym typeface="Calibri (MS) Bold"/>
              </a:rPr>
              <a:t>03</a:t>
            </a:r>
          </a:p>
        </p:txBody>
      </p:sp>
      <p:sp>
        <p:nvSpPr>
          <p:cNvPr id="20" name="TextBox 20"/>
          <p:cNvSpPr txBox="1"/>
          <p:nvPr/>
        </p:nvSpPr>
        <p:spPr>
          <a:xfrm>
            <a:off x="1394460" y="5868543"/>
            <a:ext cx="4206240" cy="436245"/>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COMPONENTS</a:t>
            </a:r>
          </a:p>
        </p:txBody>
      </p:sp>
      <p:sp>
        <p:nvSpPr>
          <p:cNvPr id="21" name="TextBox 21"/>
          <p:cNvSpPr txBox="1"/>
          <p:nvPr/>
        </p:nvSpPr>
        <p:spPr>
          <a:xfrm>
            <a:off x="1394460" y="6472047"/>
            <a:ext cx="4206240" cy="2676525"/>
          </a:xfrm>
          <a:prstGeom prst="rect">
            <a:avLst/>
          </a:prstGeom>
        </p:spPr>
        <p:txBody>
          <a:bodyPr lIns="0" tIns="0" rIns="0" bIns="0" rtlCol="0" anchor="t">
            <a:spAutoFit/>
          </a:bodyPr>
          <a:lstStyle/>
          <a:p>
            <a:pPr algn="l">
              <a:lnSpc>
                <a:spcPts val="2399"/>
              </a:lnSpc>
            </a:pPr>
            <a:r>
              <a:rPr lang="en-US" sz="1999" b="1">
                <a:solidFill>
                  <a:srgbClr val="697684"/>
                </a:solidFill>
                <a:latin typeface="Calibri (MS) Bold"/>
                <a:ea typeface="Calibri (MS) Bold"/>
                <a:cs typeface="Calibri (MS) Bold"/>
                <a:sym typeface="Calibri (MS) Bold"/>
              </a:rPr>
              <a:t>1. VisionChef Smart Glasses</a:t>
            </a:r>
          </a:p>
          <a:p>
            <a:pPr algn="l">
              <a:lnSpc>
                <a:spcPts val="2399"/>
              </a:lnSpc>
            </a:pPr>
            <a:r>
              <a:rPr lang="en-US" sz="1999">
                <a:solidFill>
                  <a:srgbClr val="697684"/>
                </a:solidFill>
                <a:latin typeface="Calibri (MS)"/>
                <a:ea typeface="Calibri (MS)"/>
                <a:cs typeface="Calibri (MS)"/>
                <a:sym typeface="Calibri (MS)"/>
              </a:rPr>
              <a:t> Camera + Audio + Motion Sensors</a:t>
            </a:r>
          </a:p>
          <a:p>
            <a:pPr algn="l">
              <a:lnSpc>
                <a:spcPts val="2399"/>
              </a:lnSpc>
            </a:pPr>
            <a:r>
              <a:rPr lang="en-US" sz="1999" b="1">
                <a:solidFill>
                  <a:srgbClr val="697684"/>
                </a:solidFill>
                <a:latin typeface="Calibri (MS) Bold"/>
                <a:ea typeface="Calibri (MS) Bold"/>
                <a:cs typeface="Calibri (MS) Bold"/>
                <a:sym typeface="Calibri (MS) Bold"/>
              </a:rPr>
              <a:t>2. VisionChef Edge AI Hub</a:t>
            </a:r>
          </a:p>
          <a:p>
            <a:pPr algn="l">
              <a:lnSpc>
                <a:spcPts val="2399"/>
              </a:lnSpc>
            </a:pPr>
            <a:r>
              <a:rPr lang="en-US" sz="1999">
                <a:solidFill>
                  <a:srgbClr val="697684"/>
                </a:solidFill>
                <a:latin typeface="Calibri (MS)"/>
                <a:ea typeface="Calibri (MS)"/>
                <a:cs typeface="Calibri (MS)"/>
                <a:sym typeface="Calibri (MS)"/>
              </a:rPr>
              <a:t> Raspberry Pi 5 + Edge AI</a:t>
            </a:r>
          </a:p>
          <a:p>
            <a:pPr algn="l">
              <a:lnSpc>
                <a:spcPts val="2399"/>
              </a:lnSpc>
            </a:pPr>
            <a:r>
              <a:rPr lang="en-US" sz="1999" b="1">
                <a:solidFill>
                  <a:srgbClr val="697684"/>
                </a:solidFill>
                <a:latin typeface="Calibri (MS) Bold"/>
                <a:ea typeface="Calibri (MS) Bold"/>
                <a:cs typeface="Calibri (MS) Bold"/>
                <a:sym typeface="Calibri (MS) Bold"/>
              </a:rPr>
              <a:t>3. Smart Pantry</a:t>
            </a:r>
          </a:p>
          <a:p>
            <a:pPr algn="l">
              <a:lnSpc>
                <a:spcPts val="2399"/>
              </a:lnSpc>
            </a:pPr>
            <a:r>
              <a:rPr lang="en-US" sz="1999">
                <a:solidFill>
                  <a:srgbClr val="697684"/>
                </a:solidFill>
                <a:latin typeface="Calibri (MS)"/>
                <a:ea typeface="Calibri (MS)"/>
                <a:cs typeface="Calibri (MS)"/>
                <a:sym typeface="Calibri (MS)"/>
              </a:rPr>
              <a:t> Ingredient Location + Guidance</a:t>
            </a:r>
          </a:p>
          <a:p>
            <a:pPr algn="l">
              <a:lnSpc>
                <a:spcPts val="2399"/>
              </a:lnSpc>
            </a:pPr>
            <a:r>
              <a:rPr lang="en-US" sz="1999" b="1">
                <a:solidFill>
                  <a:srgbClr val="697684"/>
                </a:solidFill>
                <a:latin typeface="Calibri (MS) Bold"/>
                <a:ea typeface="Calibri (MS) Bold"/>
                <a:cs typeface="Calibri (MS) Bold"/>
                <a:sym typeface="Calibri (MS) Bold"/>
              </a:rPr>
              <a:t>4. Kitchen Safety System</a:t>
            </a:r>
          </a:p>
          <a:p>
            <a:pPr algn="l">
              <a:lnSpc>
                <a:spcPts val="2399"/>
              </a:lnSpc>
            </a:pPr>
            <a:r>
              <a:rPr lang="en-US" sz="1999">
                <a:solidFill>
                  <a:srgbClr val="697684"/>
                </a:solidFill>
                <a:latin typeface="Calibri (MS)"/>
                <a:ea typeface="Calibri (MS)"/>
                <a:cs typeface="Calibri (MS)"/>
                <a:sym typeface="Calibri (MS)"/>
              </a:rPr>
              <a:t> Gas + Smoke + Flame + Temperature</a:t>
            </a:r>
          </a:p>
          <a:p>
            <a:pPr algn="l">
              <a:lnSpc>
                <a:spcPts val="2160"/>
              </a:lnSpc>
            </a:pPr>
            <a:endParaRPr lang="en-US" sz="1999">
              <a:solidFill>
                <a:srgbClr val="697684"/>
              </a:solidFill>
              <a:latin typeface="Calibri (MS)"/>
              <a:ea typeface="Calibri (MS)"/>
              <a:cs typeface="Calibri (MS)"/>
              <a:sym typeface="Calibri (MS)"/>
            </a:endParaRPr>
          </a:p>
        </p:txBody>
      </p:sp>
      <p:sp>
        <p:nvSpPr>
          <p:cNvPr id="22" name="TextBox 22"/>
          <p:cNvSpPr txBox="1"/>
          <p:nvPr/>
        </p:nvSpPr>
        <p:spPr>
          <a:xfrm>
            <a:off x="6812280" y="5868543"/>
            <a:ext cx="4206240" cy="436245"/>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TECHNOLOGY STACK</a:t>
            </a:r>
          </a:p>
        </p:txBody>
      </p:sp>
      <p:sp>
        <p:nvSpPr>
          <p:cNvPr id="23" name="TextBox 23"/>
          <p:cNvSpPr txBox="1"/>
          <p:nvPr/>
        </p:nvSpPr>
        <p:spPr>
          <a:xfrm>
            <a:off x="6707125" y="6257163"/>
            <a:ext cx="4563332" cy="3068532"/>
          </a:xfrm>
          <a:prstGeom prst="rect">
            <a:avLst/>
          </a:prstGeom>
        </p:spPr>
        <p:txBody>
          <a:bodyPr wrap="square" lIns="0" tIns="0" rIns="0" bIns="0" rtlCol="0" anchor="t">
            <a:spAutoFit/>
          </a:bodyPr>
          <a:lstStyle/>
          <a:p>
            <a:pPr marL="431799" lvl="1" indent="-215899" algn="l">
              <a:lnSpc>
                <a:spcPts val="2399"/>
              </a:lnSpc>
              <a:buFont typeface="Arial"/>
              <a:buChar char="•"/>
            </a:pPr>
            <a:r>
              <a:rPr lang="en-US" sz="1999" b="1" dirty="0">
                <a:solidFill>
                  <a:srgbClr val="697684"/>
                </a:solidFill>
                <a:latin typeface="Calibri (MS) Bold"/>
                <a:ea typeface="Calibri (MS) Bold"/>
                <a:cs typeface="Calibri (MS) Bold"/>
                <a:sym typeface="Calibri (MS) Bold"/>
              </a:rPr>
              <a:t>Hardware: </a:t>
            </a:r>
            <a:r>
              <a:rPr lang="en-US" sz="1999" dirty="0">
                <a:solidFill>
                  <a:srgbClr val="697684"/>
                </a:solidFill>
                <a:latin typeface="Calibri (MS)"/>
                <a:ea typeface="Calibri (MS)"/>
                <a:cs typeface="Calibri (MS)"/>
                <a:sym typeface="Calibri (MS)"/>
              </a:rPr>
              <a:t>Raspberry Pi 5, camera, ToF sensor, ESP32, MEMS microphones, speakers and kitchen sensors</a:t>
            </a:r>
          </a:p>
          <a:p>
            <a:pPr marL="431799" lvl="1" indent="-215899" algn="l">
              <a:lnSpc>
                <a:spcPts val="2399"/>
              </a:lnSpc>
              <a:buFont typeface="Arial"/>
              <a:buChar char="•"/>
            </a:pPr>
            <a:r>
              <a:rPr lang="en-US" sz="1999" b="1" dirty="0">
                <a:solidFill>
                  <a:srgbClr val="697684"/>
                </a:solidFill>
                <a:latin typeface="Calibri (MS) Bold"/>
                <a:ea typeface="Calibri (MS) Bold"/>
                <a:cs typeface="Calibri (MS) Bold"/>
                <a:sym typeface="Calibri (MS) Bold"/>
              </a:rPr>
              <a:t>AI / Software:</a:t>
            </a:r>
            <a:r>
              <a:rPr lang="en-US" sz="1999" dirty="0">
                <a:solidFill>
                  <a:srgbClr val="697684"/>
                </a:solidFill>
                <a:latin typeface="Calibri (MS)"/>
                <a:ea typeface="Calibri (MS)"/>
                <a:cs typeface="Calibri (MS)"/>
                <a:sym typeface="Calibri (MS)"/>
              </a:rPr>
              <a:t> Python, OpenCV, YOLO, speech-to-text, text-to-speech and local AI models</a:t>
            </a:r>
          </a:p>
          <a:p>
            <a:pPr marL="431799" lvl="1" indent="-215899" algn="l">
              <a:lnSpc>
                <a:spcPts val="2399"/>
              </a:lnSpc>
              <a:buFont typeface="Arial"/>
              <a:buChar char="•"/>
            </a:pPr>
            <a:r>
              <a:rPr lang="en-US" sz="1999" b="1" dirty="0">
                <a:solidFill>
                  <a:srgbClr val="697684"/>
                </a:solidFill>
                <a:latin typeface="Calibri (MS) Bold"/>
                <a:ea typeface="Calibri (MS) Bold"/>
                <a:cs typeface="Calibri (MS) Bold"/>
                <a:sym typeface="Calibri (MS) Bold"/>
              </a:rPr>
              <a:t>Communication: </a:t>
            </a:r>
            <a:r>
              <a:rPr lang="en-US" sz="1999" dirty="0">
                <a:solidFill>
                  <a:srgbClr val="697684"/>
                </a:solidFill>
                <a:latin typeface="Calibri (MS)"/>
                <a:ea typeface="Calibri (MS)"/>
                <a:cs typeface="Calibri (MS)"/>
                <a:sym typeface="Calibri (MS)"/>
              </a:rPr>
              <a:t>Wi-Fi and Bluetooth Low Energy</a:t>
            </a:r>
          </a:p>
          <a:p>
            <a:pPr marL="431799" lvl="1" indent="-215899" algn="l">
              <a:lnSpc>
                <a:spcPts val="2399"/>
              </a:lnSpc>
              <a:buFont typeface="Arial"/>
              <a:buChar char="•"/>
            </a:pPr>
            <a:r>
              <a:rPr lang="en-US" sz="1999" b="1" dirty="0">
                <a:solidFill>
                  <a:srgbClr val="697684"/>
                </a:solidFill>
                <a:latin typeface="Calibri (MS) Bold"/>
                <a:ea typeface="Calibri (MS) Bold"/>
                <a:cs typeface="Calibri (MS) Bold"/>
                <a:sym typeface="Calibri (MS) Bold"/>
              </a:rPr>
              <a:t>Control:</a:t>
            </a:r>
            <a:r>
              <a:rPr lang="en-US" sz="1999" dirty="0">
                <a:solidFill>
                  <a:srgbClr val="697684"/>
                </a:solidFill>
                <a:latin typeface="Calibri (MS)"/>
                <a:ea typeface="Calibri (MS)"/>
                <a:cs typeface="Calibri (MS)"/>
                <a:sym typeface="Calibri (MS)"/>
              </a:rPr>
              <a:t> Edge AI decision engine, local database and sensor processing</a:t>
            </a:r>
          </a:p>
        </p:txBody>
      </p:sp>
      <p:sp>
        <p:nvSpPr>
          <p:cNvPr id="24" name="TextBox 24"/>
          <p:cNvSpPr txBox="1"/>
          <p:nvPr/>
        </p:nvSpPr>
        <p:spPr>
          <a:xfrm>
            <a:off x="12230100" y="5868543"/>
            <a:ext cx="4206240" cy="436245"/>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OUTPUT / APPLICATION</a:t>
            </a:r>
          </a:p>
        </p:txBody>
      </p:sp>
      <p:sp>
        <p:nvSpPr>
          <p:cNvPr id="25" name="TextBox 25"/>
          <p:cNvSpPr txBox="1"/>
          <p:nvPr/>
        </p:nvSpPr>
        <p:spPr>
          <a:xfrm>
            <a:off x="12230100" y="6472047"/>
            <a:ext cx="4206240" cy="3267075"/>
          </a:xfrm>
          <a:prstGeom prst="rect">
            <a:avLst/>
          </a:prstGeom>
        </p:spPr>
        <p:txBody>
          <a:bodyPr lIns="0" tIns="0" rIns="0" bIns="0" rtlCol="0" anchor="t">
            <a:spAutoFit/>
          </a:bodyPr>
          <a:lstStyle/>
          <a:p>
            <a:pPr algn="l">
              <a:lnSpc>
                <a:spcPts val="2399"/>
              </a:lnSpc>
            </a:pPr>
            <a:r>
              <a:rPr lang="en-US" sz="1999" b="1">
                <a:solidFill>
                  <a:srgbClr val="697684"/>
                </a:solidFill>
                <a:latin typeface="Calibri (MS) Bold"/>
                <a:ea typeface="Calibri (MS) Bold"/>
                <a:cs typeface="Calibri (MS) Bold"/>
                <a:sym typeface="Calibri (MS) Bold"/>
              </a:rPr>
              <a:t>Product Output:</a:t>
            </a:r>
            <a:r>
              <a:rPr lang="en-US" sz="1999">
                <a:solidFill>
                  <a:srgbClr val="697684"/>
                </a:solidFill>
                <a:latin typeface="Calibri (MS)"/>
                <a:ea typeface="Calibri (MS)"/>
                <a:cs typeface="Calibri (MS)"/>
                <a:sym typeface="Calibri (MS)"/>
              </a:rPr>
              <a:t> Real-time cooking guidance and safety alerts through open-ear speakers.</a:t>
            </a:r>
          </a:p>
          <a:p>
            <a:pPr algn="l">
              <a:lnSpc>
                <a:spcPts val="2399"/>
              </a:lnSpc>
            </a:pPr>
            <a:r>
              <a:rPr lang="en-US" sz="1999" b="1">
                <a:solidFill>
                  <a:srgbClr val="697684"/>
                </a:solidFill>
                <a:latin typeface="Calibri (MS) Bold"/>
                <a:ea typeface="Calibri (MS) Bold"/>
                <a:cs typeface="Calibri (MS) Bold"/>
                <a:sym typeface="Calibri (MS) Bold"/>
              </a:rPr>
              <a:t>Performance Metrics: </a:t>
            </a:r>
            <a:r>
              <a:rPr lang="en-US" sz="1999">
                <a:solidFill>
                  <a:srgbClr val="697684"/>
                </a:solidFill>
                <a:latin typeface="Calibri (MS)"/>
                <a:ea typeface="Calibri (MS)"/>
                <a:cs typeface="Calibri (MS)"/>
                <a:sym typeface="Calibri (MS)"/>
              </a:rPr>
              <a:t>Ingredient recognition accuracy, response time, battery endurance and safety detection reliability.</a:t>
            </a:r>
          </a:p>
          <a:p>
            <a:pPr algn="l">
              <a:lnSpc>
                <a:spcPts val="2399"/>
              </a:lnSpc>
            </a:pPr>
            <a:r>
              <a:rPr lang="en-US" sz="1999" b="1">
                <a:solidFill>
                  <a:srgbClr val="697684"/>
                </a:solidFill>
                <a:latin typeface="Calibri (MS) Bold"/>
                <a:ea typeface="Calibri (MS) Bold"/>
                <a:cs typeface="Calibri (MS) Bold"/>
                <a:sym typeface="Calibri (MS) Bold"/>
              </a:rPr>
              <a:t>End Use:</a:t>
            </a:r>
            <a:r>
              <a:rPr lang="en-US" sz="1999">
                <a:solidFill>
                  <a:srgbClr val="697684"/>
                </a:solidFill>
                <a:latin typeface="Calibri (MS)"/>
                <a:ea typeface="Calibri (MS)"/>
                <a:cs typeface="Calibri (MS)"/>
                <a:sym typeface="Calibri (MS)"/>
              </a:rPr>
              <a:t> Homes, rehabilitation centres, assisted-living environments and other accessibility-focused settings.</a:t>
            </a:r>
          </a:p>
          <a:p>
            <a:pPr algn="l">
              <a:lnSpc>
                <a:spcPts val="2160"/>
              </a:lnSpc>
            </a:pPr>
            <a:endParaRPr lang="en-US" sz="1999">
              <a:solidFill>
                <a:srgbClr val="697684"/>
              </a:solidFill>
              <a:latin typeface="Calibri (MS)"/>
              <a:ea typeface="Calibri (MS)"/>
              <a:cs typeface="Calibri (MS)"/>
              <a:sym typeface="Calibri (MS)"/>
            </a:endParaRPr>
          </a:p>
        </p:txBody>
      </p:sp>
      <p:sp>
        <p:nvSpPr>
          <p:cNvPr id="26" name="TextBox 26"/>
          <p:cNvSpPr txBox="1"/>
          <p:nvPr/>
        </p:nvSpPr>
        <p:spPr>
          <a:xfrm>
            <a:off x="914400" y="9782937"/>
            <a:ext cx="16413480" cy="280035"/>
          </a:xfrm>
          <a:prstGeom prst="rect">
            <a:avLst/>
          </a:prstGeom>
        </p:spPr>
        <p:txBody>
          <a:bodyPr lIns="0" tIns="0" rIns="0" bIns="0" rtlCol="0" anchor="t">
            <a:spAutoFit/>
          </a:bodyPr>
          <a:lstStyle/>
          <a:p>
            <a:pPr algn="r">
              <a:lnSpc>
                <a:spcPts val="1620"/>
              </a:lnSpc>
            </a:pPr>
            <a:r>
              <a:rPr lang="en-US" sz="1350">
                <a:solidFill>
                  <a:srgbClr val="697684"/>
                </a:solidFill>
                <a:latin typeface="Calibri (MS)"/>
                <a:ea typeface="Calibri (MS)"/>
                <a:cs typeface="Calibri (MS)"/>
                <a:sym typeface="Calibri (MS)"/>
              </a:rPr>
              <a:t>MSME Idea Hackathon 6.0  |  3/5  |  CITBIF</a:t>
            </a:r>
          </a:p>
        </p:txBody>
      </p:sp>
      <p:pic>
        <p:nvPicPr>
          <p:cNvPr id="30" name="Picture 29">
            <a:extLst>
              <a:ext uri="{FF2B5EF4-FFF2-40B4-BE49-F238E27FC236}">
                <a16:creationId xmlns:a16="http://schemas.microsoft.com/office/drawing/2014/main" id="{34B85B61-25FB-EAC8-1ABF-3E5C6F758C3C}"/>
              </a:ext>
            </a:extLst>
          </p:cNvPr>
          <p:cNvPicPr>
            <a:picLocks noChangeAspect="1"/>
          </p:cNvPicPr>
          <p:nvPr/>
        </p:nvPicPr>
        <p:blipFill>
          <a:blip r:embed="rId2"/>
          <a:stretch>
            <a:fillRect/>
          </a:stretch>
        </p:blipFill>
        <p:spPr>
          <a:xfrm>
            <a:off x="952976" y="876300"/>
            <a:ext cx="16374904" cy="4703445"/>
          </a:xfrm>
          <a:prstGeom prst="rect">
            <a:avLst/>
          </a:prstGeom>
        </p:spPr>
      </p:pic>
      <p:sp>
        <p:nvSpPr>
          <p:cNvPr id="19" name="TextBox 19"/>
          <p:cNvSpPr txBox="1"/>
          <p:nvPr/>
        </p:nvSpPr>
        <p:spPr>
          <a:xfrm>
            <a:off x="1673591" y="125921"/>
            <a:ext cx="14630400" cy="666750"/>
          </a:xfrm>
          <a:prstGeom prst="rect">
            <a:avLst/>
          </a:prstGeom>
        </p:spPr>
        <p:txBody>
          <a:bodyPr lIns="0" tIns="0" rIns="0" bIns="0" rtlCol="0" anchor="t">
            <a:spAutoFit/>
          </a:bodyPr>
          <a:lstStyle/>
          <a:p>
            <a:pPr algn="l">
              <a:lnSpc>
                <a:spcPts val="4680"/>
              </a:lnSpc>
            </a:pPr>
            <a:r>
              <a:rPr lang="en-US" sz="3900" b="1" dirty="0">
                <a:solidFill>
                  <a:srgbClr val="122F52"/>
                </a:solidFill>
                <a:latin typeface="Calibri (MS) Bold"/>
                <a:ea typeface="Calibri (MS) Bold"/>
                <a:cs typeface="Calibri (MS) Bold"/>
                <a:sym typeface="Calibri (MS) Bold"/>
              </a:rPr>
              <a:t>Schematic Diagram / System Architecture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3977" cy="13716000"/>
            </a:xfrm>
            <a:custGeom>
              <a:avLst/>
              <a:gdLst/>
              <a:ahLst/>
              <a:cxnLst/>
              <a:rect l="l" t="t" r="r" b="b"/>
              <a:pathLst>
                <a:path w="24383977" h="13716000">
                  <a:moveTo>
                    <a:pt x="0" y="0"/>
                  </a:moveTo>
                  <a:lnTo>
                    <a:pt x="24383977" y="0"/>
                  </a:lnTo>
                  <a:lnTo>
                    <a:pt x="24383977" y="13716000"/>
                  </a:lnTo>
                  <a:lnTo>
                    <a:pt x="0" y="13716000"/>
                  </a:lnTo>
                  <a:close/>
                </a:path>
              </a:pathLst>
            </a:custGeom>
            <a:solidFill>
              <a:srgbClr val="FFFFFF"/>
            </a:solidFill>
          </p:spPr>
        </p:sp>
      </p:grpSp>
      <p:grpSp>
        <p:nvGrpSpPr>
          <p:cNvPr id="4" name="Group 4"/>
          <p:cNvGrpSpPr/>
          <p:nvPr/>
        </p:nvGrpSpPr>
        <p:grpSpPr>
          <a:xfrm>
            <a:off x="0" y="0"/>
            <a:ext cx="219456" cy="10287000"/>
            <a:chOff x="0" y="0"/>
            <a:chExt cx="292608" cy="13716000"/>
          </a:xfrm>
        </p:grpSpPr>
        <p:sp>
          <p:nvSpPr>
            <p:cNvPr id="5" name="Freeform 5"/>
            <p:cNvSpPr/>
            <p:nvPr/>
          </p:nvSpPr>
          <p:spPr>
            <a:xfrm>
              <a:off x="0" y="0"/>
              <a:ext cx="292608" cy="13716000"/>
            </a:xfrm>
            <a:custGeom>
              <a:avLst/>
              <a:gdLst/>
              <a:ahLst/>
              <a:cxnLst/>
              <a:rect l="l" t="t" r="r" b="b"/>
              <a:pathLst>
                <a:path w="292608" h="13716000">
                  <a:moveTo>
                    <a:pt x="0" y="0"/>
                  </a:moveTo>
                  <a:lnTo>
                    <a:pt x="292608" y="0"/>
                  </a:lnTo>
                  <a:lnTo>
                    <a:pt x="292608" y="13716000"/>
                  </a:lnTo>
                  <a:lnTo>
                    <a:pt x="0" y="13716000"/>
                  </a:lnTo>
                  <a:close/>
                </a:path>
              </a:pathLst>
            </a:custGeom>
            <a:solidFill>
              <a:srgbClr val="2769B4"/>
            </a:solidFill>
          </p:spPr>
        </p:sp>
      </p:grpSp>
      <p:grpSp>
        <p:nvGrpSpPr>
          <p:cNvPr id="6" name="Group 6"/>
          <p:cNvGrpSpPr/>
          <p:nvPr/>
        </p:nvGrpSpPr>
        <p:grpSpPr>
          <a:xfrm>
            <a:off x="884396" y="6507956"/>
            <a:ext cx="7969568" cy="2750344"/>
            <a:chOff x="0" y="0"/>
            <a:chExt cx="10626090" cy="3667125"/>
          </a:xfrm>
        </p:grpSpPr>
        <p:sp>
          <p:nvSpPr>
            <p:cNvPr id="7" name="Freeform 7"/>
            <p:cNvSpPr/>
            <p:nvPr/>
          </p:nvSpPr>
          <p:spPr>
            <a:xfrm>
              <a:off x="0" y="0"/>
              <a:ext cx="10626090" cy="3667125"/>
            </a:xfrm>
            <a:custGeom>
              <a:avLst/>
              <a:gdLst/>
              <a:ahLst/>
              <a:cxnLst/>
              <a:rect l="l" t="t" r="r" b="b"/>
              <a:pathLst>
                <a:path w="10626090" h="3667125">
                  <a:moveTo>
                    <a:pt x="0" y="611188"/>
                  </a:moveTo>
                  <a:cubicBezTo>
                    <a:pt x="0" y="273625"/>
                    <a:pt x="178816" y="0"/>
                    <a:pt x="399415" y="0"/>
                  </a:cubicBezTo>
                  <a:lnTo>
                    <a:pt x="10226675" y="0"/>
                  </a:lnTo>
                  <a:cubicBezTo>
                    <a:pt x="10447274" y="0"/>
                    <a:pt x="10626090" y="273625"/>
                    <a:pt x="10626090" y="611188"/>
                  </a:cubicBezTo>
                  <a:lnTo>
                    <a:pt x="10626090" y="3055938"/>
                  </a:lnTo>
                  <a:cubicBezTo>
                    <a:pt x="10626090" y="3393500"/>
                    <a:pt x="10447274" y="3667125"/>
                    <a:pt x="10226675" y="3667125"/>
                  </a:cubicBezTo>
                  <a:lnTo>
                    <a:pt x="399415" y="3667125"/>
                  </a:lnTo>
                  <a:cubicBezTo>
                    <a:pt x="178816" y="3667125"/>
                    <a:pt x="0" y="3393499"/>
                    <a:pt x="0" y="3055938"/>
                  </a:cubicBezTo>
                  <a:close/>
                </a:path>
              </a:pathLst>
            </a:custGeom>
            <a:solidFill>
              <a:srgbClr val="F4F7FA"/>
            </a:solidFill>
            <a:ln w="14288" cap="sq">
              <a:solidFill>
                <a:srgbClr val="D2DAE2"/>
              </a:solidFill>
              <a:prstDash val="solid"/>
              <a:miter/>
            </a:ln>
          </p:spPr>
        </p:sp>
      </p:grpSp>
      <p:grpSp>
        <p:nvGrpSpPr>
          <p:cNvPr id="8" name="Group 8"/>
          <p:cNvGrpSpPr/>
          <p:nvPr/>
        </p:nvGrpSpPr>
        <p:grpSpPr>
          <a:xfrm>
            <a:off x="838856" y="6515100"/>
            <a:ext cx="110202" cy="2743200"/>
            <a:chOff x="0" y="0"/>
            <a:chExt cx="95508" cy="2377440"/>
          </a:xfrm>
        </p:grpSpPr>
        <p:sp>
          <p:nvSpPr>
            <p:cNvPr id="9" name="Freeform 9"/>
            <p:cNvSpPr/>
            <p:nvPr/>
          </p:nvSpPr>
          <p:spPr>
            <a:xfrm>
              <a:off x="0" y="0"/>
              <a:ext cx="95508" cy="2377440"/>
            </a:xfrm>
            <a:custGeom>
              <a:avLst/>
              <a:gdLst/>
              <a:ahLst/>
              <a:cxnLst/>
              <a:rect l="l" t="t" r="r" b="b"/>
              <a:pathLst>
                <a:path w="95508" h="2377440">
                  <a:moveTo>
                    <a:pt x="0" y="0"/>
                  </a:moveTo>
                  <a:lnTo>
                    <a:pt x="95508" y="0"/>
                  </a:lnTo>
                  <a:lnTo>
                    <a:pt x="95508" y="2377440"/>
                  </a:lnTo>
                  <a:lnTo>
                    <a:pt x="0" y="2377440"/>
                  </a:lnTo>
                  <a:close/>
                </a:path>
              </a:pathLst>
            </a:custGeom>
            <a:solidFill>
              <a:srgbClr val="2D9169"/>
            </a:solidFill>
          </p:spPr>
        </p:sp>
      </p:grpSp>
      <p:grpSp>
        <p:nvGrpSpPr>
          <p:cNvPr id="10" name="Group 10"/>
          <p:cNvGrpSpPr/>
          <p:nvPr/>
        </p:nvGrpSpPr>
        <p:grpSpPr>
          <a:xfrm>
            <a:off x="9182576" y="6507956"/>
            <a:ext cx="7969568" cy="2750344"/>
            <a:chOff x="0" y="0"/>
            <a:chExt cx="10626090" cy="3667125"/>
          </a:xfrm>
        </p:grpSpPr>
        <p:sp>
          <p:nvSpPr>
            <p:cNvPr id="11" name="Freeform 11"/>
            <p:cNvSpPr/>
            <p:nvPr/>
          </p:nvSpPr>
          <p:spPr>
            <a:xfrm>
              <a:off x="0" y="0"/>
              <a:ext cx="10626090" cy="3667125"/>
            </a:xfrm>
            <a:custGeom>
              <a:avLst/>
              <a:gdLst/>
              <a:ahLst/>
              <a:cxnLst/>
              <a:rect l="l" t="t" r="r" b="b"/>
              <a:pathLst>
                <a:path w="10626090" h="3667125">
                  <a:moveTo>
                    <a:pt x="0" y="611188"/>
                  </a:moveTo>
                  <a:cubicBezTo>
                    <a:pt x="0" y="273625"/>
                    <a:pt x="178816" y="0"/>
                    <a:pt x="399415" y="0"/>
                  </a:cubicBezTo>
                  <a:lnTo>
                    <a:pt x="10226675" y="0"/>
                  </a:lnTo>
                  <a:cubicBezTo>
                    <a:pt x="10447274" y="0"/>
                    <a:pt x="10626090" y="273625"/>
                    <a:pt x="10626090" y="611188"/>
                  </a:cubicBezTo>
                  <a:lnTo>
                    <a:pt x="10626090" y="3055938"/>
                  </a:lnTo>
                  <a:cubicBezTo>
                    <a:pt x="10626090" y="3393500"/>
                    <a:pt x="10447274" y="3667125"/>
                    <a:pt x="10226675" y="3667125"/>
                  </a:cubicBezTo>
                  <a:lnTo>
                    <a:pt x="399415" y="3667125"/>
                  </a:lnTo>
                  <a:cubicBezTo>
                    <a:pt x="178816" y="3667125"/>
                    <a:pt x="0" y="3393499"/>
                    <a:pt x="0" y="3055938"/>
                  </a:cubicBezTo>
                  <a:close/>
                </a:path>
              </a:pathLst>
            </a:custGeom>
            <a:solidFill>
              <a:srgbClr val="F4F7FA"/>
            </a:solidFill>
            <a:ln w="14288" cap="sq">
              <a:solidFill>
                <a:srgbClr val="D2DAE2"/>
              </a:solidFill>
              <a:prstDash val="solid"/>
              <a:miter/>
            </a:ln>
          </p:spPr>
        </p:sp>
      </p:grpSp>
      <p:grpSp>
        <p:nvGrpSpPr>
          <p:cNvPr id="12" name="Group 12"/>
          <p:cNvGrpSpPr/>
          <p:nvPr/>
        </p:nvGrpSpPr>
        <p:grpSpPr>
          <a:xfrm>
            <a:off x="9130636" y="6515100"/>
            <a:ext cx="108376" cy="2743200"/>
            <a:chOff x="0" y="0"/>
            <a:chExt cx="93926" cy="2377440"/>
          </a:xfrm>
        </p:grpSpPr>
        <p:sp>
          <p:nvSpPr>
            <p:cNvPr id="13" name="Freeform 13"/>
            <p:cNvSpPr/>
            <p:nvPr/>
          </p:nvSpPr>
          <p:spPr>
            <a:xfrm>
              <a:off x="0" y="0"/>
              <a:ext cx="93926" cy="2377440"/>
            </a:xfrm>
            <a:custGeom>
              <a:avLst/>
              <a:gdLst/>
              <a:ahLst/>
              <a:cxnLst/>
              <a:rect l="l" t="t" r="r" b="b"/>
              <a:pathLst>
                <a:path w="93926" h="2377440">
                  <a:moveTo>
                    <a:pt x="0" y="0"/>
                  </a:moveTo>
                  <a:lnTo>
                    <a:pt x="93926" y="0"/>
                  </a:lnTo>
                  <a:lnTo>
                    <a:pt x="93926" y="2377440"/>
                  </a:lnTo>
                  <a:lnTo>
                    <a:pt x="0" y="2377440"/>
                  </a:lnTo>
                  <a:close/>
                </a:path>
              </a:pathLst>
            </a:custGeom>
            <a:solidFill>
              <a:srgbClr val="EB7E22"/>
            </a:solidFill>
          </p:spPr>
        </p:sp>
      </p:grpSp>
      <p:sp>
        <p:nvSpPr>
          <p:cNvPr id="14" name="TextBox 14"/>
          <p:cNvSpPr txBox="1"/>
          <p:nvPr/>
        </p:nvSpPr>
        <p:spPr>
          <a:xfrm>
            <a:off x="845820" y="500253"/>
            <a:ext cx="914400" cy="729615"/>
          </a:xfrm>
          <a:prstGeom prst="rect">
            <a:avLst/>
          </a:prstGeom>
        </p:spPr>
        <p:txBody>
          <a:bodyPr lIns="0" tIns="0" rIns="0" bIns="0" rtlCol="0" anchor="t">
            <a:spAutoFit/>
          </a:bodyPr>
          <a:lstStyle/>
          <a:p>
            <a:pPr algn="l">
              <a:lnSpc>
                <a:spcPts val="4320"/>
              </a:lnSpc>
            </a:pPr>
            <a:r>
              <a:rPr lang="en-US" sz="3600" b="1">
                <a:solidFill>
                  <a:srgbClr val="2769B4"/>
                </a:solidFill>
                <a:latin typeface="Calibri (MS) Bold"/>
                <a:ea typeface="Calibri (MS) Bold"/>
                <a:cs typeface="Calibri (MS) Bold"/>
                <a:sym typeface="Calibri (MS) Bold"/>
              </a:rPr>
              <a:t>04</a:t>
            </a:r>
          </a:p>
        </p:txBody>
      </p:sp>
      <p:sp>
        <p:nvSpPr>
          <p:cNvPr id="15" name="TextBox 15"/>
          <p:cNvSpPr txBox="1"/>
          <p:nvPr/>
        </p:nvSpPr>
        <p:spPr>
          <a:xfrm>
            <a:off x="1805940" y="408432"/>
            <a:ext cx="11634102" cy="666750"/>
          </a:xfrm>
          <a:prstGeom prst="rect">
            <a:avLst/>
          </a:prstGeom>
        </p:spPr>
        <p:txBody>
          <a:bodyPr lIns="0" tIns="0" rIns="0" bIns="0" rtlCol="0" anchor="t">
            <a:spAutoFit/>
          </a:bodyPr>
          <a:lstStyle/>
          <a:p>
            <a:pPr algn="l">
              <a:lnSpc>
                <a:spcPts val="4680"/>
              </a:lnSpc>
            </a:pPr>
            <a:r>
              <a:rPr lang="en-US" sz="3900" b="1">
                <a:solidFill>
                  <a:srgbClr val="122F52"/>
                </a:solidFill>
                <a:latin typeface="Calibri (MS) Bold"/>
                <a:ea typeface="Calibri (MS) Bold"/>
                <a:cs typeface="Calibri (MS) Bold"/>
                <a:sym typeface="Calibri (MS) Bold"/>
              </a:rPr>
              <a:t>Process Flow </a:t>
            </a:r>
          </a:p>
        </p:txBody>
      </p:sp>
      <p:sp>
        <p:nvSpPr>
          <p:cNvPr id="16" name="TextBox 16"/>
          <p:cNvSpPr txBox="1"/>
          <p:nvPr/>
        </p:nvSpPr>
        <p:spPr>
          <a:xfrm>
            <a:off x="1325880" y="6760083"/>
            <a:ext cx="7155180" cy="436245"/>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KEY OPERATING PRINCIPLE</a:t>
            </a:r>
          </a:p>
        </p:txBody>
      </p:sp>
      <p:sp>
        <p:nvSpPr>
          <p:cNvPr id="17" name="TextBox 17"/>
          <p:cNvSpPr txBox="1"/>
          <p:nvPr/>
        </p:nvSpPr>
        <p:spPr>
          <a:xfrm>
            <a:off x="1514332" y="7277862"/>
            <a:ext cx="7155180" cy="1790700"/>
          </a:xfrm>
          <a:prstGeom prst="rect">
            <a:avLst/>
          </a:prstGeom>
        </p:spPr>
        <p:txBody>
          <a:bodyPr lIns="0" tIns="0" rIns="0" bIns="0" rtlCol="0" anchor="t">
            <a:spAutoFit/>
          </a:bodyPr>
          <a:lstStyle/>
          <a:p>
            <a:pPr algn="l">
              <a:lnSpc>
                <a:spcPts val="2399"/>
              </a:lnSpc>
            </a:pPr>
            <a:r>
              <a:rPr lang="en-US" sz="1999" dirty="0" err="1">
                <a:solidFill>
                  <a:srgbClr val="697684"/>
                </a:solidFill>
                <a:latin typeface="Calibri (MS)"/>
                <a:ea typeface="Calibri (MS)"/>
                <a:cs typeface="Calibri (MS)"/>
                <a:sym typeface="Calibri (MS)"/>
              </a:rPr>
              <a:t>VisionChef</a:t>
            </a:r>
            <a:r>
              <a:rPr lang="en-US" sz="1999" dirty="0">
                <a:solidFill>
                  <a:srgbClr val="697684"/>
                </a:solidFill>
                <a:latin typeface="Calibri (MS)"/>
                <a:ea typeface="Calibri (MS)"/>
                <a:cs typeface="Calibri (MS)"/>
                <a:sym typeface="Calibri (MS)"/>
              </a:rPr>
              <a:t> listens to the user's voice and receives visual and sensor information from the kitchen. The Edge AI Hub processes the information locally, identifies the cooking context, checks the recipe and safety conditions, and provides short voice instructions through the open-ear speakers.</a:t>
            </a:r>
          </a:p>
          <a:p>
            <a:pPr algn="l">
              <a:lnSpc>
                <a:spcPts val="2160"/>
              </a:lnSpc>
            </a:pPr>
            <a:endParaRPr lang="en-US" sz="1999" dirty="0">
              <a:solidFill>
                <a:srgbClr val="697684"/>
              </a:solidFill>
              <a:latin typeface="Calibri (MS)"/>
              <a:ea typeface="Calibri (MS)"/>
              <a:cs typeface="Calibri (MS)"/>
              <a:sym typeface="Calibri (MS)"/>
            </a:endParaRPr>
          </a:p>
        </p:txBody>
      </p:sp>
      <p:sp>
        <p:nvSpPr>
          <p:cNvPr id="18" name="TextBox 18"/>
          <p:cNvSpPr txBox="1"/>
          <p:nvPr/>
        </p:nvSpPr>
        <p:spPr>
          <a:xfrm>
            <a:off x="9624060" y="6760083"/>
            <a:ext cx="7155180" cy="436245"/>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KEY PERFORMANCE INDICATORS</a:t>
            </a:r>
          </a:p>
        </p:txBody>
      </p:sp>
      <p:sp>
        <p:nvSpPr>
          <p:cNvPr id="19" name="TextBox 19"/>
          <p:cNvSpPr txBox="1"/>
          <p:nvPr/>
        </p:nvSpPr>
        <p:spPr>
          <a:xfrm>
            <a:off x="914400" y="9782937"/>
            <a:ext cx="16413480" cy="280035"/>
          </a:xfrm>
          <a:prstGeom prst="rect">
            <a:avLst/>
          </a:prstGeom>
        </p:spPr>
        <p:txBody>
          <a:bodyPr lIns="0" tIns="0" rIns="0" bIns="0" rtlCol="0" anchor="t">
            <a:spAutoFit/>
          </a:bodyPr>
          <a:lstStyle/>
          <a:p>
            <a:pPr algn="r">
              <a:lnSpc>
                <a:spcPts val="1620"/>
              </a:lnSpc>
            </a:pPr>
            <a:r>
              <a:rPr lang="en-US" sz="1350">
                <a:solidFill>
                  <a:srgbClr val="697684"/>
                </a:solidFill>
                <a:latin typeface="Calibri (MS)"/>
                <a:ea typeface="Calibri (MS)"/>
                <a:cs typeface="Calibri (MS)"/>
                <a:sym typeface="Calibri (MS)"/>
              </a:rPr>
              <a:t>MSME Idea Hackathon 6.0  |  4/5  |  CITBIF</a:t>
            </a:r>
          </a:p>
        </p:txBody>
      </p:sp>
      <p:pic>
        <p:nvPicPr>
          <p:cNvPr id="22" name="Picture 21">
            <a:extLst>
              <a:ext uri="{FF2B5EF4-FFF2-40B4-BE49-F238E27FC236}">
                <a16:creationId xmlns:a16="http://schemas.microsoft.com/office/drawing/2014/main" id="{CF8523EF-767D-4C3A-7ED5-2FDC1D15A092}"/>
              </a:ext>
            </a:extLst>
          </p:cNvPr>
          <p:cNvPicPr>
            <a:picLocks noChangeAspect="1"/>
          </p:cNvPicPr>
          <p:nvPr/>
        </p:nvPicPr>
        <p:blipFill>
          <a:blip r:embed="rId2"/>
          <a:stretch>
            <a:fillRect/>
          </a:stretch>
        </p:blipFill>
        <p:spPr>
          <a:xfrm>
            <a:off x="1665841" y="1138094"/>
            <a:ext cx="14630400" cy="5288328"/>
          </a:xfrm>
          <a:prstGeom prst="rect">
            <a:avLst/>
          </a:prstGeom>
        </p:spPr>
      </p:pic>
      <p:sp>
        <p:nvSpPr>
          <p:cNvPr id="20" name="TextBox 20"/>
          <p:cNvSpPr txBox="1"/>
          <p:nvPr/>
        </p:nvSpPr>
        <p:spPr>
          <a:xfrm>
            <a:off x="9589770" y="7158228"/>
            <a:ext cx="7155180" cy="1866900"/>
          </a:xfrm>
          <a:prstGeom prst="rect">
            <a:avLst/>
          </a:prstGeom>
        </p:spPr>
        <p:txBody>
          <a:bodyPr lIns="0" tIns="0" rIns="0" bIns="0" rtlCol="0" anchor="t">
            <a:spAutoFit/>
          </a:bodyPr>
          <a:lstStyle/>
          <a:p>
            <a:pPr marL="215901" lvl="1" algn="l">
              <a:lnSpc>
                <a:spcPts val="2400"/>
              </a:lnSpc>
            </a:pPr>
            <a:r>
              <a:rPr lang="en-US" sz="2000" b="1" dirty="0">
                <a:solidFill>
                  <a:srgbClr val="697684"/>
                </a:solidFill>
                <a:latin typeface="Calibri (MS) Bold"/>
                <a:ea typeface="Calibri (MS) Bold"/>
                <a:cs typeface="Calibri (MS) Bold"/>
                <a:sym typeface="Calibri (MS) Bold"/>
              </a:rPr>
              <a:t>Ingredient Recognition Accuracy —</a:t>
            </a:r>
            <a:r>
              <a:rPr lang="en-US" sz="2000" dirty="0">
                <a:solidFill>
                  <a:srgbClr val="697684"/>
                </a:solidFill>
                <a:latin typeface="Calibri (MS)"/>
                <a:ea typeface="Calibri (MS)"/>
                <a:cs typeface="Calibri (MS)"/>
                <a:sym typeface="Calibri (MS)"/>
              </a:rPr>
              <a:t> How reliably </a:t>
            </a:r>
            <a:r>
              <a:rPr lang="en-US" sz="2000" dirty="0" err="1">
                <a:solidFill>
                  <a:srgbClr val="697684"/>
                </a:solidFill>
                <a:latin typeface="Calibri (MS)"/>
                <a:ea typeface="Calibri (MS)"/>
                <a:cs typeface="Calibri (MS)"/>
                <a:sym typeface="Calibri (MS)"/>
              </a:rPr>
              <a:t>VisionChef</a:t>
            </a:r>
            <a:r>
              <a:rPr lang="en-US" sz="2000" dirty="0">
                <a:solidFill>
                  <a:srgbClr val="697684"/>
                </a:solidFill>
                <a:latin typeface="Calibri (MS)"/>
                <a:ea typeface="Calibri (MS)"/>
                <a:cs typeface="Calibri (MS)"/>
                <a:sym typeface="Calibri (MS)"/>
              </a:rPr>
              <a:t> identifies ingredients.</a:t>
            </a:r>
          </a:p>
          <a:p>
            <a:pPr marL="215901" lvl="1" algn="l">
              <a:lnSpc>
                <a:spcPts val="2400"/>
              </a:lnSpc>
            </a:pPr>
            <a:r>
              <a:rPr lang="en-US" sz="2000" b="1" dirty="0">
                <a:solidFill>
                  <a:srgbClr val="697684"/>
                </a:solidFill>
                <a:latin typeface="Calibri (MS) Bold"/>
                <a:ea typeface="Calibri (MS) Bold"/>
                <a:cs typeface="Calibri (MS) Bold"/>
                <a:sym typeface="Calibri (MS) Bold"/>
              </a:rPr>
              <a:t>Voice Response Time — </a:t>
            </a:r>
            <a:r>
              <a:rPr lang="en-US" sz="2000" dirty="0">
                <a:solidFill>
                  <a:srgbClr val="697684"/>
                </a:solidFill>
                <a:latin typeface="Calibri (MS)"/>
                <a:ea typeface="Calibri (MS)"/>
                <a:cs typeface="Calibri (MS)"/>
                <a:sym typeface="Calibri (MS)"/>
              </a:rPr>
              <a:t>How quickly the system responds after a user command or detected event.</a:t>
            </a:r>
          </a:p>
          <a:p>
            <a:pPr marL="215901" lvl="1" algn="l">
              <a:lnSpc>
                <a:spcPts val="2400"/>
              </a:lnSpc>
            </a:pPr>
            <a:r>
              <a:rPr lang="en-US" sz="2000" b="1" dirty="0">
                <a:solidFill>
                  <a:srgbClr val="697684"/>
                </a:solidFill>
                <a:latin typeface="Calibri (MS) Bold"/>
                <a:ea typeface="Calibri (MS) Bold"/>
                <a:cs typeface="Calibri (MS) Bold"/>
                <a:sym typeface="Calibri (MS) Bold"/>
              </a:rPr>
              <a:t>Safety Detection Reliability — </a:t>
            </a:r>
            <a:r>
              <a:rPr lang="en-US" sz="2000" dirty="0">
                <a:solidFill>
                  <a:srgbClr val="697684"/>
                </a:solidFill>
                <a:latin typeface="Calibri (MS)"/>
                <a:ea typeface="Calibri (MS)"/>
                <a:cs typeface="Calibri (MS)"/>
                <a:sym typeface="Calibri (MS)"/>
              </a:rPr>
              <a:t>How reliably the system detects gas, smoke, flame and temperature risks.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FFFFF"/>
            </a:solidFill>
          </p:spPr>
        </p:sp>
      </p:grpSp>
      <p:grpSp>
        <p:nvGrpSpPr>
          <p:cNvPr id="4" name="Group 4"/>
          <p:cNvGrpSpPr/>
          <p:nvPr/>
        </p:nvGrpSpPr>
        <p:grpSpPr>
          <a:xfrm>
            <a:off x="0" y="0"/>
            <a:ext cx="219456" cy="10287000"/>
            <a:chOff x="0" y="0"/>
            <a:chExt cx="292608" cy="13716000"/>
          </a:xfrm>
        </p:grpSpPr>
        <p:sp>
          <p:nvSpPr>
            <p:cNvPr id="5" name="Freeform 5"/>
            <p:cNvSpPr/>
            <p:nvPr/>
          </p:nvSpPr>
          <p:spPr>
            <a:xfrm>
              <a:off x="0" y="0"/>
              <a:ext cx="292608" cy="13716000"/>
            </a:xfrm>
            <a:custGeom>
              <a:avLst/>
              <a:gdLst/>
              <a:ahLst/>
              <a:cxnLst/>
              <a:rect l="l" t="t" r="r" b="b"/>
              <a:pathLst>
                <a:path w="292608" h="13716000">
                  <a:moveTo>
                    <a:pt x="0" y="0"/>
                  </a:moveTo>
                  <a:lnTo>
                    <a:pt x="292608" y="0"/>
                  </a:lnTo>
                  <a:lnTo>
                    <a:pt x="292608" y="13716000"/>
                  </a:lnTo>
                  <a:lnTo>
                    <a:pt x="0" y="13716000"/>
                  </a:lnTo>
                  <a:close/>
                </a:path>
              </a:pathLst>
            </a:custGeom>
            <a:solidFill>
              <a:srgbClr val="EB7E22"/>
            </a:solidFill>
          </p:spPr>
        </p:sp>
      </p:grpSp>
      <p:sp>
        <p:nvSpPr>
          <p:cNvPr id="6" name="TextBox 6"/>
          <p:cNvSpPr txBox="1"/>
          <p:nvPr/>
        </p:nvSpPr>
        <p:spPr>
          <a:xfrm>
            <a:off x="845820" y="500253"/>
            <a:ext cx="914400" cy="729615"/>
          </a:xfrm>
          <a:prstGeom prst="rect">
            <a:avLst/>
          </a:prstGeom>
        </p:spPr>
        <p:txBody>
          <a:bodyPr lIns="0" tIns="0" rIns="0" bIns="0" rtlCol="0" anchor="t">
            <a:spAutoFit/>
          </a:bodyPr>
          <a:lstStyle/>
          <a:p>
            <a:pPr algn="l">
              <a:lnSpc>
                <a:spcPts val="4320"/>
              </a:lnSpc>
            </a:pPr>
            <a:r>
              <a:rPr lang="en-US" sz="3600" b="1">
                <a:solidFill>
                  <a:srgbClr val="EB7E22"/>
                </a:solidFill>
                <a:latin typeface="Calibri (MS) Bold"/>
                <a:ea typeface="Calibri (MS) Bold"/>
                <a:cs typeface="Calibri (MS) Bold"/>
                <a:sym typeface="Calibri (MS) Bold"/>
              </a:rPr>
              <a:t>05</a:t>
            </a:r>
          </a:p>
        </p:txBody>
      </p:sp>
      <p:sp>
        <p:nvSpPr>
          <p:cNvPr id="7" name="TextBox 7"/>
          <p:cNvSpPr txBox="1"/>
          <p:nvPr/>
        </p:nvSpPr>
        <p:spPr>
          <a:xfrm>
            <a:off x="1805940" y="408432"/>
            <a:ext cx="14630400" cy="944880"/>
          </a:xfrm>
          <a:prstGeom prst="rect">
            <a:avLst/>
          </a:prstGeom>
        </p:spPr>
        <p:txBody>
          <a:bodyPr lIns="0" tIns="0" rIns="0" bIns="0" rtlCol="0" anchor="t">
            <a:spAutoFit/>
          </a:bodyPr>
          <a:lstStyle/>
          <a:p>
            <a:pPr algn="l">
              <a:lnSpc>
                <a:spcPts val="4680"/>
              </a:lnSpc>
            </a:pPr>
            <a:r>
              <a:rPr lang="en-US" sz="3900" b="1">
                <a:solidFill>
                  <a:srgbClr val="122F52"/>
                </a:solidFill>
                <a:latin typeface="Calibri (MS) Bold"/>
                <a:ea typeface="Calibri (MS) Bold"/>
                <a:cs typeface="Calibri (MS) Bold"/>
                <a:sym typeface="Calibri (MS) Bold"/>
              </a:rPr>
              <a:t>Market Potential</a:t>
            </a:r>
          </a:p>
        </p:txBody>
      </p:sp>
      <p:grpSp>
        <p:nvGrpSpPr>
          <p:cNvPr id="8" name="Group 8"/>
          <p:cNvGrpSpPr/>
          <p:nvPr/>
        </p:nvGrpSpPr>
        <p:grpSpPr>
          <a:xfrm>
            <a:off x="884396" y="1638776"/>
            <a:ext cx="5157788" cy="2757488"/>
            <a:chOff x="0" y="0"/>
            <a:chExt cx="6877050" cy="3676650"/>
          </a:xfrm>
        </p:grpSpPr>
        <p:sp>
          <p:nvSpPr>
            <p:cNvPr id="9" name="Freeform 9"/>
            <p:cNvSpPr/>
            <p:nvPr/>
          </p:nvSpPr>
          <p:spPr>
            <a:xfrm>
              <a:off x="0" y="0"/>
              <a:ext cx="6877050" cy="3676650"/>
            </a:xfrm>
            <a:custGeom>
              <a:avLst/>
              <a:gdLst/>
              <a:ahLst/>
              <a:cxnLst/>
              <a:rect l="l" t="t" r="r" b="b"/>
              <a:pathLst>
                <a:path w="6877050" h="3676650">
                  <a:moveTo>
                    <a:pt x="0" y="612775"/>
                  </a:moveTo>
                  <a:cubicBezTo>
                    <a:pt x="0" y="274320"/>
                    <a:pt x="274320" y="0"/>
                    <a:pt x="612775" y="0"/>
                  </a:cubicBezTo>
                  <a:lnTo>
                    <a:pt x="6264275" y="0"/>
                  </a:lnTo>
                  <a:cubicBezTo>
                    <a:pt x="6602730" y="0"/>
                    <a:pt x="6877050" y="274320"/>
                    <a:pt x="6877050" y="612775"/>
                  </a:cubicBezTo>
                  <a:lnTo>
                    <a:pt x="6877050" y="3063875"/>
                  </a:lnTo>
                  <a:cubicBezTo>
                    <a:pt x="6877050" y="3402330"/>
                    <a:pt x="6602730" y="3676650"/>
                    <a:pt x="6264275" y="3676650"/>
                  </a:cubicBezTo>
                  <a:lnTo>
                    <a:pt x="612775" y="3676650"/>
                  </a:lnTo>
                  <a:cubicBezTo>
                    <a:pt x="274320" y="3676650"/>
                    <a:pt x="0" y="3402330"/>
                    <a:pt x="0" y="3063875"/>
                  </a:cubicBezTo>
                  <a:close/>
                </a:path>
              </a:pathLst>
            </a:custGeom>
            <a:solidFill>
              <a:srgbClr val="F4F7FA"/>
            </a:solidFill>
            <a:ln w="14288" cap="sq">
              <a:solidFill>
                <a:srgbClr val="D2DAE2"/>
              </a:solidFill>
              <a:prstDash val="solid"/>
              <a:miter/>
            </a:ln>
          </p:spPr>
        </p:sp>
      </p:grpSp>
      <p:grpSp>
        <p:nvGrpSpPr>
          <p:cNvPr id="10" name="Group 10"/>
          <p:cNvGrpSpPr/>
          <p:nvPr/>
        </p:nvGrpSpPr>
        <p:grpSpPr>
          <a:xfrm>
            <a:off x="891540" y="1645920"/>
            <a:ext cx="109728" cy="2743200"/>
            <a:chOff x="0" y="0"/>
            <a:chExt cx="146304" cy="3657600"/>
          </a:xfrm>
        </p:grpSpPr>
        <p:sp>
          <p:nvSpPr>
            <p:cNvPr id="11" name="Freeform 11"/>
            <p:cNvSpPr/>
            <p:nvPr/>
          </p:nvSpPr>
          <p:spPr>
            <a:xfrm>
              <a:off x="0" y="0"/>
              <a:ext cx="146304" cy="3657600"/>
            </a:xfrm>
            <a:custGeom>
              <a:avLst/>
              <a:gdLst/>
              <a:ahLst/>
              <a:cxnLst/>
              <a:rect l="l" t="t" r="r" b="b"/>
              <a:pathLst>
                <a:path w="146304" h="3657600">
                  <a:moveTo>
                    <a:pt x="0" y="0"/>
                  </a:moveTo>
                  <a:lnTo>
                    <a:pt x="146304" y="0"/>
                  </a:lnTo>
                  <a:lnTo>
                    <a:pt x="146304" y="3657600"/>
                  </a:lnTo>
                  <a:lnTo>
                    <a:pt x="0" y="3657600"/>
                  </a:lnTo>
                  <a:close/>
                </a:path>
              </a:pathLst>
            </a:custGeom>
            <a:solidFill>
              <a:srgbClr val="2769B4"/>
            </a:solidFill>
          </p:spPr>
        </p:sp>
      </p:grpSp>
      <p:sp>
        <p:nvSpPr>
          <p:cNvPr id="12" name="TextBox 12"/>
          <p:cNvSpPr txBox="1"/>
          <p:nvPr/>
        </p:nvSpPr>
        <p:spPr>
          <a:xfrm>
            <a:off x="1325880" y="1890903"/>
            <a:ext cx="4343400" cy="436245"/>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TARGET MARKET</a:t>
            </a:r>
          </a:p>
        </p:txBody>
      </p:sp>
      <p:sp>
        <p:nvSpPr>
          <p:cNvPr id="13" name="TextBox 13"/>
          <p:cNvSpPr txBox="1"/>
          <p:nvPr/>
        </p:nvSpPr>
        <p:spPr>
          <a:xfrm>
            <a:off x="1552016" y="2289048"/>
            <a:ext cx="4117264" cy="2476500"/>
          </a:xfrm>
          <a:prstGeom prst="rect">
            <a:avLst/>
          </a:prstGeom>
        </p:spPr>
        <p:txBody>
          <a:bodyPr lIns="0" tIns="0" rIns="0" bIns="0" rtlCol="0" anchor="t">
            <a:spAutoFit/>
          </a:bodyPr>
          <a:lstStyle/>
          <a:p>
            <a:pPr algn="l">
              <a:lnSpc>
                <a:spcPts val="2400"/>
              </a:lnSpc>
            </a:pPr>
            <a:r>
              <a:rPr lang="en-US" sz="2000" b="1">
                <a:solidFill>
                  <a:srgbClr val="697684"/>
                </a:solidFill>
                <a:latin typeface="Calibri (MS) Bold"/>
                <a:ea typeface="Calibri (MS) Bold"/>
                <a:cs typeface="Calibri (MS) Bold"/>
                <a:sym typeface="Calibri (MS) Bold"/>
              </a:rPr>
              <a:t>Primary:</a:t>
            </a:r>
            <a:r>
              <a:rPr lang="en-US" sz="2000">
                <a:solidFill>
                  <a:srgbClr val="697684"/>
                </a:solidFill>
                <a:latin typeface="Calibri (MS)"/>
                <a:ea typeface="Calibri (MS)"/>
                <a:cs typeface="Calibri (MS)"/>
                <a:sym typeface="Calibri (MS)"/>
              </a:rPr>
              <a:t> Visually impaired users</a:t>
            </a:r>
          </a:p>
          <a:p>
            <a:pPr algn="l">
              <a:lnSpc>
                <a:spcPts val="2400"/>
              </a:lnSpc>
            </a:pPr>
            <a:r>
              <a:rPr lang="en-US" sz="2000" b="1">
                <a:solidFill>
                  <a:srgbClr val="697684"/>
                </a:solidFill>
                <a:latin typeface="Calibri (MS) Bold"/>
                <a:ea typeface="Calibri (MS) Bold"/>
                <a:cs typeface="Calibri (MS) Bold"/>
                <a:sym typeface="Calibri (MS) Bold"/>
              </a:rPr>
              <a:t>Secondary:</a:t>
            </a:r>
            <a:r>
              <a:rPr lang="en-US" sz="2000">
                <a:solidFill>
                  <a:srgbClr val="697684"/>
                </a:solidFill>
                <a:latin typeface="Calibri (MS)"/>
                <a:ea typeface="Calibri (MS)"/>
                <a:cs typeface="Calibri (MS)"/>
                <a:sym typeface="Calibri (MS)"/>
              </a:rPr>
              <a:t> Elderly &amp; low-vision users</a:t>
            </a:r>
          </a:p>
          <a:p>
            <a:pPr algn="l">
              <a:lnSpc>
                <a:spcPts val="2400"/>
              </a:lnSpc>
            </a:pPr>
            <a:r>
              <a:rPr lang="en-US" sz="2000" b="1">
                <a:solidFill>
                  <a:srgbClr val="697684"/>
                </a:solidFill>
                <a:latin typeface="Calibri (MS) Bold"/>
                <a:ea typeface="Calibri (MS) Bold"/>
                <a:cs typeface="Calibri (MS) Bold"/>
                <a:sym typeface="Calibri (MS) Bold"/>
              </a:rPr>
              <a:t>Partners: </a:t>
            </a:r>
            <a:r>
              <a:rPr lang="en-US" sz="2000">
                <a:solidFill>
                  <a:srgbClr val="697684"/>
                </a:solidFill>
                <a:latin typeface="Calibri (MS)"/>
                <a:ea typeface="Calibri (MS)"/>
                <a:cs typeface="Calibri (MS)"/>
                <a:sym typeface="Calibri (MS)"/>
              </a:rPr>
              <a:t>Rehabilitation &amp; assisted-living centres</a:t>
            </a:r>
          </a:p>
          <a:p>
            <a:pPr algn="l">
              <a:lnSpc>
                <a:spcPts val="2400"/>
              </a:lnSpc>
            </a:pPr>
            <a:r>
              <a:rPr lang="en-US" sz="2000" b="1">
                <a:solidFill>
                  <a:srgbClr val="697684"/>
                </a:solidFill>
                <a:latin typeface="Calibri (MS) Bold"/>
                <a:ea typeface="Calibri (MS) Bold"/>
                <a:cs typeface="Calibri (MS) Bold"/>
                <a:sym typeface="Calibri (MS) Bold"/>
              </a:rPr>
              <a:t>Market:</a:t>
            </a:r>
            <a:r>
              <a:rPr lang="en-US" sz="2000">
                <a:solidFill>
                  <a:srgbClr val="697684"/>
                </a:solidFill>
                <a:latin typeface="Calibri (MS)"/>
                <a:ea typeface="Calibri (MS)"/>
                <a:cs typeface="Calibri (MS)"/>
                <a:sym typeface="Calibri (MS)"/>
              </a:rPr>
              <a:t> Tamil Nadu → India → Global</a:t>
            </a:r>
          </a:p>
          <a:p>
            <a:pPr algn="l">
              <a:lnSpc>
                <a:spcPts val="2400"/>
              </a:lnSpc>
            </a:pPr>
            <a:endParaRPr lang="en-US" sz="2000">
              <a:solidFill>
                <a:srgbClr val="697684"/>
              </a:solidFill>
              <a:latin typeface="Calibri (MS)"/>
              <a:ea typeface="Calibri (MS)"/>
              <a:cs typeface="Calibri (MS)"/>
              <a:sym typeface="Calibri (MS)"/>
            </a:endParaRPr>
          </a:p>
          <a:p>
            <a:pPr algn="l">
              <a:lnSpc>
                <a:spcPts val="2400"/>
              </a:lnSpc>
            </a:pPr>
            <a:endParaRPr lang="en-US" sz="2000">
              <a:solidFill>
                <a:srgbClr val="697684"/>
              </a:solidFill>
              <a:latin typeface="Calibri (MS)"/>
              <a:ea typeface="Calibri (MS)"/>
              <a:cs typeface="Calibri (MS)"/>
              <a:sym typeface="Calibri (MS)"/>
            </a:endParaRPr>
          </a:p>
          <a:p>
            <a:pPr algn="l">
              <a:lnSpc>
                <a:spcPts val="2400"/>
              </a:lnSpc>
            </a:pPr>
            <a:endParaRPr lang="en-US" sz="2000">
              <a:solidFill>
                <a:srgbClr val="697684"/>
              </a:solidFill>
              <a:latin typeface="Calibri (MS)"/>
              <a:ea typeface="Calibri (MS)"/>
              <a:cs typeface="Calibri (MS)"/>
              <a:sym typeface="Calibri (MS)"/>
            </a:endParaRPr>
          </a:p>
        </p:txBody>
      </p:sp>
      <p:grpSp>
        <p:nvGrpSpPr>
          <p:cNvPr id="14" name="Group 14"/>
          <p:cNvGrpSpPr/>
          <p:nvPr/>
        </p:nvGrpSpPr>
        <p:grpSpPr>
          <a:xfrm>
            <a:off x="6358890" y="1626870"/>
            <a:ext cx="3261360" cy="2781300"/>
            <a:chOff x="0" y="0"/>
            <a:chExt cx="4348480" cy="3708400"/>
          </a:xfrm>
        </p:grpSpPr>
        <p:sp>
          <p:nvSpPr>
            <p:cNvPr id="15" name="Freeform 15"/>
            <p:cNvSpPr/>
            <p:nvPr/>
          </p:nvSpPr>
          <p:spPr>
            <a:xfrm>
              <a:off x="0" y="0"/>
              <a:ext cx="4348480" cy="3708400"/>
            </a:xfrm>
            <a:custGeom>
              <a:avLst/>
              <a:gdLst/>
              <a:ahLst/>
              <a:cxnLst/>
              <a:rect l="l" t="t" r="r" b="b"/>
              <a:pathLst>
                <a:path w="4348480" h="3708400">
                  <a:moveTo>
                    <a:pt x="0" y="618109"/>
                  </a:moveTo>
                  <a:cubicBezTo>
                    <a:pt x="0" y="276733"/>
                    <a:pt x="276733" y="0"/>
                    <a:pt x="618109" y="0"/>
                  </a:cubicBezTo>
                  <a:lnTo>
                    <a:pt x="3730371" y="0"/>
                  </a:lnTo>
                  <a:cubicBezTo>
                    <a:pt x="4071747" y="0"/>
                    <a:pt x="4348480" y="276733"/>
                    <a:pt x="4348480" y="618109"/>
                  </a:cubicBezTo>
                  <a:lnTo>
                    <a:pt x="4348480" y="3090291"/>
                  </a:lnTo>
                  <a:cubicBezTo>
                    <a:pt x="4348480" y="3431667"/>
                    <a:pt x="4071747" y="3708400"/>
                    <a:pt x="3730371" y="3708400"/>
                  </a:cubicBezTo>
                  <a:lnTo>
                    <a:pt x="618109" y="3708400"/>
                  </a:lnTo>
                  <a:cubicBezTo>
                    <a:pt x="276733" y="3708400"/>
                    <a:pt x="0" y="3431667"/>
                    <a:pt x="0" y="3090291"/>
                  </a:cubicBezTo>
                  <a:close/>
                </a:path>
              </a:pathLst>
            </a:custGeom>
            <a:solidFill>
              <a:srgbClr val="F4F7FA"/>
            </a:solidFill>
            <a:ln w="38100" cap="sq">
              <a:solidFill>
                <a:srgbClr val="EB7E22"/>
              </a:solidFill>
              <a:prstDash val="solid"/>
              <a:miter/>
            </a:ln>
          </p:spPr>
        </p:sp>
        <p:sp>
          <p:nvSpPr>
            <p:cNvPr id="16" name="TextBox 16"/>
            <p:cNvSpPr txBox="1"/>
            <p:nvPr/>
          </p:nvSpPr>
          <p:spPr>
            <a:xfrm>
              <a:off x="0" y="-57150"/>
              <a:ext cx="4348480" cy="3765550"/>
            </a:xfrm>
            <a:prstGeom prst="rect">
              <a:avLst/>
            </a:prstGeom>
          </p:spPr>
          <p:txBody>
            <a:bodyPr lIns="50800" tIns="50800" rIns="50800" bIns="50800" rtlCol="0" anchor="ctr"/>
            <a:lstStyle/>
            <a:p>
              <a:pPr algn="ctr">
                <a:lnSpc>
                  <a:spcPts val="3240"/>
                </a:lnSpc>
              </a:pPr>
              <a:r>
                <a:rPr lang="en-US" sz="2700" b="1">
                  <a:solidFill>
                    <a:srgbClr val="EB7E22"/>
                  </a:solidFill>
                  <a:latin typeface="Calibri (MS) Bold"/>
                  <a:ea typeface="Calibri (MS) Bold"/>
                  <a:cs typeface="Calibri (MS) Bold"/>
                  <a:sym typeface="Calibri (MS) Bold"/>
                </a:rPr>
                <a:t>TAM</a:t>
              </a:r>
            </a:p>
            <a:p>
              <a:pPr algn="ctr">
                <a:lnSpc>
                  <a:spcPts val="3600"/>
                </a:lnSpc>
              </a:pPr>
              <a:r>
                <a:rPr lang="en-US" sz="3000" b="1">
                  <a:solidFill>
                    <a:srgbClr val="122F52"/>
                  </a:solidFill>
                  <a:latin typeface="Calibri (MS) Bold"/>
                  <a:ea typeface="Calibri (MS) Bold"/>
                  <a:cs typeface="Calibri (MS) Bold"/>
                  <a:sym typeface="Calibri (MS) Bold"/>
                </a:rPr>
                <a:t>₹ 20,800 Cr</a:t>
              </a:r>
            </a:p>
            <a:p>
              <a:pPr algn="ctr">
                <a:lnSpc>
                  <a:spcPts val="2400"/>
                </a:lnSpc>
              </a:pPr>
              <a:r>
                <a:rPr lang="en-US" sz="2000" b="1">
                  <a:solidFill>
                    <a:srgbClr val="EB7E22"/>
                  </a:solidFill>
                  <a:latin typeface="Calibri (MS) Bold"/>
                  <a:ea typeface="Calibri (MS) Bold"/>
                  <a:cs typeface="Calibri (MS) Bold"/>
                  <a:sym typeface="Calibri (MS) Bold"/>
                </a:rPr>
                <a:t>India assistive-tech market</a:t>
              </a:r>
            </a:p>
          </p:txBody>
        </p:sp>
      </p:grpSp>
      <p:grpSp>
        <p:nvGrpSpPr>
          <p:cNvPr id="17" name="Group 17"/>
          <p:cNvGrpSpPr/>
          <p:nvPr/>
        </p:nvGrpSpPr>
        <p:grpSpPr>
          <a:xfrm>
            <a:off x="9993630" y="1626870"/>
            <a:ext cx="3261360" cy="2781300"/>
            <a:chOff x="0" y="0"/>
            <a:chExt cx="4348480" cy="3708400"/>
          </a:xfrm>
        </p:grpSpPr>
        <p:sp>
          <p:nvSpPr>
            <p:cNvPr id="18" name="Freeform 18"/>
            <p:cNvSpPr/>
            <p:nvPr/>
          </p:nvSpPr>
          <p:spPr>
            <a:xfrm>
              <a:off x="0" y="0"/>
              <a:ext cx="4348480" cy="3708400"/>
            </a:xfrm>
            <a:custGeom>
              <a:avLst/>
              <a:gdLst/>
              <a:ahLst/>
              <a:cxnLst/>
              <a:rect l="l" t="t" r="r" b="b"/>
              <a:pathLst>
                <a:path w="4348480" h="3708400">
                  <a:moveTo>
                    <a:pt x="0" y="618109"/>
                  </a:moveTo>
                  <a:cubicBezTo>
                    <a:pt x="0" y="276733"/>
                    <a:pt x="276733" y="0"/>
                    <a:pt x="618109" y="0"/>
                  </a:cubicBezTo>
                  <a:lnTo>
                    <a:pt x="3730371" y="0"/>
                  </a:lnTo>
                  <a:cubicBezTo>
                    <a:pt x="4071747" y="0"/>
                    <a:pt x="4348480" y="276733"/>
                    <a:pt x="4348480" y="618109"/>
                  </a:cubicBezTo>
                  <a:lnTo>
                    <a:pt x="4348480" y="3090291"/>
                  </a:lnTo>
                  <a:cubicBezTo>
                    <a:pt x="4348480" y="3431667"/>
                    <a:pt x="4071747" y="3708400"/>
                    <a:pt x="3730371" y="3708400"/>
                  </a:cubicBezTo>
                  <a:lnTo>
                    <a:pt x="618109" y="3708400"/>
                  </a:lnTo>
                  <a:cubicBezTo>
                    <a:pt x="276733" y="3708400"/>
                    <a:pt x="0" y="3431667"/>
                    <a:pt x="0" y="3090291"/>
                  </a:cubicBezTo>
                  <a:close/>
                </a:path>
              </a:pathLst>
            </a:custGeom>
            <a:solidFill>
              <a:srgbClr val="F4F7FA"/>
            </a:solidFill>
            <a:ln w="38100" cap="sq">
              <a:solidFill>
                <a:srgbClr val="2769B4"/>
              </a:solidFill>
              <a:prstDash val="solid"/>
              <a:miter/>
            </a:ln>
          </p:spPr>
        </p:sp>
        <p:sp>
          <p:nvSpPr>
            <p:cNvPr id="19" name="TextBox 19"/>
            <p:cNvSpPr txBox="1"/>
            <p:nvPr/>
          </p:nvSpPr>
          <p:spPr>
            <a:xfrm>
              <a:off x="0" y="-57150"/>
              <a:ext cx="4348480" cy="3765550"/>
            </a:xfrm>
            <a:prstGeom prst="rect">
              <a:avLst/>
            </a:prstGeom>
          </p:spPr>
          <p:txBody>
            <a:bodyPr lIns="50800" tIns="50800" rIns="50800" bIns="50800" rtlCol="0" anchor="ctr"/>
            <a:lstStyle/>
            <a:p>
              <a:pPr algn="ctr">
                <a:lnSpc>
                  <a:spcPts val="3240"/>
                </a:lnSpc>
              </a:pPr>
              <a:r>
                <a:rPr lang="en-US" sz="2700" b="1">
                  <a:solidFill>
                    <a:srgbClr val="2769B4"/>
                  </a:solidFill>
                  <a:latin typeface="Calibri (MS) Bold"/>
                  <a:ea typeface="Calibri (MS) Bold"/>
                  <a:cs typeface="Calibri (MS) Bold"/>
                  <a:sym typeface="Calibri (MS) Bold"/>
                </a:rPr>
                <a:t>SAM</a:t>
              </a:r>
            </a:p>
            <a:p>
              <a:pPr algn="ctr">
                <a:lnSpc>
                  <a:spcPts val="3600"/>
                </a:lnSpc>
              </a:pPr>
              <a:r>
                <a:rPr lang="en-US" sz="3000" b="1">
                  <a:solidFill>
                    <a:srgbClr val="122F52"/>
                  </a:solidFill>
                  <a:latin typeface="Calibri (MS) Bold"/>
                  <a:ea typeface="Calibri (MS) Bold"/>
                  <a:cs typeface="Calibri (MS) Bold"/>
                  <a:sym typeface="Calibri (MS) Bold"/>
                </a:rPr>
                <a:t>₹ 730 Cr</a:t>
              </a:r>
            </a:p>
            <a:p>
              <a:pPr algn="ctr">
                <a:lnSpc>
                  <a:spcPts val="2400"/>
                </a:lnSpc>
              </a:pPr>
              <a:r>
                <a:rPr lang="en-US" sz="2000" b="1">
                  <a:solidFill>
                    <a:srgbClr val="2769B4"/>
                  </a:solidFill>
                  <a:latin typeface="Calibri (MS) Bold"/>
                  <a:ea typeface="Calibri (MS) Bold"/>
                  <a:cs typeface="Calibri (MS) Bold"/>
                  <a:sym typeface="Calibri (MS) Bold"/>
                </a:rPr>
                <a:t>Vision / independent-living focus*</a:t>
              </a:r>
            </a:p>
          </p:txBody>
        </p:sp>
      </p:grpSp>
      <p:grpSp>
        <p:nvGrpSpPr>
          <p:cNvPr id="20" name="Group 20"/>
          <p:cNvGrpSpPr/>
          <p:nvPr/>
        </p:nvGrpSpPr>
        <p:grpSpPr>
          <a:xfrm>
            <a:off x="13628370" y="1626870"/>
            <a:ext cx="3261360" cy="2781300"/>
            <a:chOff x="0" y="0"/>
            <a:chExt cx="4348480" cy="3708400"/>
          </a:xfrm>
        </p:grpSpPr>
        <p:sp>
          <p:nvSpPr>
            <p:cNvPr id="21" name="Freeform 21"/>
            <p:cNvSpPr/>
            <p:nvPr/>
          </p:nvSpPr>
          <p:spPr>
            <a:xfrm>
              <a:off x="0" y="0"/>
              <a:ext cx="4348480" cy="3708400"/>
            </a:xfrm>
            <a:custGeom>
              <a:avLst/>
              <a:gdLst/>
              <a:ahLst/>
              <a:cxnLst/>
              <a:rect l="l" t="t" r="r" b="b"/>
              <a:pathLst>
                <a:path w="4348480" h="3708400">
                  <a:moveTo>
                    <a:pt x="0" y="618109"/>
                  </a:moveTo>
                  <a:cubicBezTo>
                    <a:pt x="0" y="276733"/>
                    <a:pt x="276733" y="0"/>
                    <a:pt x="618109" y="0"/>
                  </a:cubicBezTo>
                  <a:lnTo>
                    <a:pt x="3730371" y="0"/>
                  </a:lnTo>
                  <a:cubicBezTo>
                    <a:pt x="4071747" y="0"/>
                    <a:pt x="4348480" y="276733"/>
                    <a:pt x="4348480" y="618109"/>
                  </a:cubicBezTo>
                  <a:lnTo>
                    <a:pt x="4348480" y="3090291"/>
                  </a:lnTo>
                  <a:cubicBezTo>
                    <a:pt x="4348480" y="3431667"/>
                    <a:pt x="4071747" y="3708400"/>
                    <a:pt x="3730371" y="3708400"/>
                  </a:cubicBezTo>
                  <a:lnTo>
                    <a:pt x="618109" y="3708400"/>
                  </a:lnTo>
                  <a:cubicBezTo>
                    <a:pt x="276733" y="3708400"/>
                    <a:pt x="0" y="3431667"/>
                    <a:pt x="0" y="3090291"/>
                  </a:cubicBezTo>
                  <a:close/>
                </a:path>
              </a:pathLst>
            </a:custGeom>
            <a:solidFill>
              <a:srgbClr val="F4F7FA"/>
            </a:solidFill>
            <a:ln w="38100" cap="sq">
              <a:solidFill>
                <a:srgbClr val="2D9169"/>
              </a:solidFill>
              <a:prstDash val="solid"/>
              <a:miter/>
            </a:ln>
          </p:spPr>
        </p:sp>
        <p:sp>
          <p:nvSpPr>
            <p:cNvPr id="22" name="TextBox 22"/>
            <p:cNvSpPr txBox="1"/>
            <p:nvPr/>
          </p:nvSpPr>
          <p:spPr>
            <a:xfrm>
              <a:off x="0" y="-57150"/>
              <a:ext cx="4348480" cy="3765550"/>
            </a:xfrm>
            <a:prstGeom prst="rect">
              <a:avLst/>
            </a:prstGeom>
          </p:spPr>
          <p:txBody>
            <a:bodyPr lIns="50800" tIns="50800" rIns="50800" bIns="50800" rtlCol="0" anchor="ctr"/>
            <a:lstStyle/>
            <a:p>
              <a:pPr algn="ctr">
                <a:lnSpc>
                  <a:spcPts val="3240"/>
                </a:lnSpc>
              </a:pPr>
              <a:r>
                <a:rPr lang="en-US" sz="2700" b="1">
                  <a:solidFill>
                    <a:srgbClr val="2D9169"/>
                  </a:solidFill>
                  <a:latin typeface="Calibri (MS) Bold"/>
                  <a:ea typeface="Calibri (MS) Bold"/>
                  <a:cs typeface="Calibri (MS) Bold"/>
                  <a:sym typeface="Calibri (MS) Bold"/>
                </a:rPr>
                <a:t>SOM</a:t>
              </a:r>
            </a:p>
            <a:p>
              <a:pPr algn="ctr">
                <a:lnSpc>
                  <a:spcPts val="3600"/>
                </a:lnSpc>
              </a:pPr>
              <a:r>
                <a:rPr lang="en-US" sz="3000" b="1">
                  <a:solidFill>
                    <a:srgbClr val="122F52"/>
                  </a:solidFill>
                  <a:latin typeface="Calibri (MS) Bold"/>
                  <a:ea typeface="Calibri (MS) Bold"/>
                  <a:cs typeface="Calibri (MS) Bold"/>
                  <a:sym typeface="Calibri (MS) Bold"/>
                </a:rPr>
                <a:t>₹ 22 Cr</a:t>
              </a:r>
            </a:p>
            <a:p>
              <a:pPr algn="ctr">
                <a:lnSpc>
                  <a:spcPts val="2400"/>
                </a:lnSpc>
              </a:pPr>
              <a:r>
                <a:rPr lang="en-US" sz="2000" b="1">
                  <a:solidFill>
                    <a:srgbClr val="2D9169"/>
                  </a:solidFill>
                  <a:latin typeface="Calibri (MS) Bold"/>
                  <a:ea typeface="Calibri (MS) Bold"/>
                  <a:cs typeface="Calibri (MS) Bold"/>
                  <a:sym typeface="Calibri (MS) Bold"/>
                </a:rPr>
                <a:t>Initial 5-year target*</a:t>
              </a:r>
            </a:p>
          </p:txBody>
        </p:sp>
      </p:grpSp>
      <p:grpSp>
        <p:nvGrpSpPr>
          <p:cNvPr id="23" name="Group 23"/>
          <p:cNvGrpSpPr/>
          <p:nvPr/>
        </p:nvGrpSpPr>
        <p:grpSpPr>
          <a:xfrm>
            <a:off x="884396" y="4862036"/>
            <a:ext cx="7900988" cy="2963228"/>
            <a:chOff x="0" y="0"/>
            <a:chExt cx="10534650" cy="3950970"/>
          </a:xfrm>
        </p:grpSpPr>
        <p:sp>
          <p:nvSpPr>
            <p:cNvPr id="24" name="Freeform 24"/>
            <p:cNvSpPr/>
            <p:nvPr/>
          </p:nvSpPr>
          <p:spPr>
            <a:xfrm>
              <a:off x="0" y="0"/>
              <a:ext cx="10534650" cy="3950970"/>
            </a:xfrm>
            <a:custGeom>
              <a:avLst/>
              <a:gdLst/>
              <a:ahLst/>
              <a:cxnLst/>
              <a:rect l="l" t="t" r="r" b="b"/>
              <a:pathLst>
                <a:path w="10534650" h="3950970">
                  <a:moveTo>
                    <a:pt x="0" y="658495"/>
                  </a:moveTo>
                  <a:cubicBezTo>
                    <a:pt x="0" y="294767"/>
                    <a:pt x="294767" y="0"/>
                    <a:pt x="658495" y="0"/>
                  </a:cubicBezTo>
                  <a:lnTo>
                    <a:pt x="9876155" y="0"/>
                  </a:lnTo>
                  <a:cubicBezTo>
                    <a:pt x="10239883" y="0"/>
                    <a:pt x="10534650" y="294767"/>
                    <a:pt x="10534650" y="658495"/>
                  </a:cubicBezTo>
                  <a:lnTo>
                    <a:pt x="10534650" y="3292475"/>
                  </a:lnTo>
                  <a:cubicBezTo>
                    <a:pt x="10534650" y="3656203"/>
                    <a:pt x="10239883" y="3950970"/>
                    <a:pt x="9876155" y="3950970"/>
                  </a:cubicBezTo>
                  <a:lnTo>
                    <a:pt x="658495" y="3950970"/>
                  </a:lnTo>
                  <a:cubicBezTo>
                    <a:pt x="294767" y="3950970"/>
                    <a:pt x="0" y="3656203"/>
                    <a:pt x="0" y="3292475"/>
                  </a:cubicBezTo>
                  <a:close/>
                </a:path>
              </a:pathLst>
            </a:custGeom>
            <a:solidFill>
              <a:srgbClr val="F4F7FA"/>
            </a:solidFill>
            <a:ln w="14288" cap="sq">
              <a:solidFill>
                <a:srgbClr val="D2DAE2"/>
              </a:solidFill>
              <a:prstDash val="solid"/>
              <a:miter/>
            </a:ln>
          </p:spPr>
        </p:sp>
      </p:grpSp>
      <p:grpSp>
        <p:nvGrpSpPr>
          <p:cNvPr id="25" name="Group 25"/>
          <p:cNvGrpSpPr/>
          <p:nvPr/>
        </p:nvGrpSpPr>
        <p:grpSpPr>
          <a:xfrm>
            <a:off x="891540" y="4869180"/>
            <a:ext cx="109728" cy="2948940"/>
            <a:chOff x="0" y="0"/>
            <a:chExt cx="146304" cy="3931920"/>
          </a:xfrm>
        </p:grpSpPr>
        <p:sp>
          <p:nvSpPr>
            <p:cNvPr id="26" name="Freeform 26"/>
            <p:cNvSpPr/>
            <p:nvPr/>
          </p:nvSpPr>
          <p:spPr>
            <a:xfrm>
              <a:off x="0" y="0"/>
              <a:ext cx="146304" cy="3931920"/>
            </a:xfrm>
            <a:custGeom>
              <a:avLst/>
              <a:gdLst/>
              <a:ahLst/>
              <a:cxnLst/>
              <a:rect l="l" t="t" r="r" b="b"/>
              <a:pathLst>
                <a:path w="146304" h="3931920">
                  <a:moveTo>
                    <a:pt x="0" y="0"/>
                  </a:moveTo>
                  <a:lnTo>
                    <a:pt x="146304" y="0"/>
                  </a:lnTo>
                  <a:lnTo>
                    <a:pt x="146304" y="3931920"/>
                  </a:lnTo>
                  <a:lnTo>
                    <a:pt x="0" y="3931920"/>
                  </a:lnTo>
                  <a:close/>
                </a:path>
              </a:pathLst>
            </a:custGeom>
            <a:solidFill>
              <a:srgbClr val="2D9169"/>
            </a:solidFill>
          </p:spPr>
        </p:sp>
      </p:grpSp>
      <p:sp>
        <p:nvSpPr>
          <p:cNvPr id="27" name="TextBox 27"/>
          <p:cNvSpPr txBox="1"/>
          <p:nvPr/>
        </p:nvSpPr>
        <p:spPr>
          <a:xfrm>
            <a:off x="1303020" y="4994148"/>
            <a:ext cx="7086600" cy="436245"/>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MARKET OPPORTUNITY</a:t>
            </a:r>
          </a:p>
        </p:txBody>
      </p:sp>
      <p:sp>
        <p:nvSpPr>
          <p:cNvPr id="28" name="TextBox 28"/>
          <p:cNvSpPr txBox="1"/>
          <p:nvPr/>
        </p:nvSpPr>
        <p:spPr>
          <a:xfrm>
            <a:off x="1677543" y="5384673"/>
            <a:ext cx="7086600" cy="2705100"/>
          </a:xfrm>
          <a:prstGeom prst="rect">
            <a:avLst/>
          </a:prstGeom>
        </p:spPr>
        <p:txBody>
          <a:bodyPr lIns="0" tIns="0" rIns="0" bIns="0" rtlCol="0" anchor="t">
            <a:spAutoFit/>
          </a:bodyPr>
          <a:lstStyle/>
          <a:p>
            <a:pPr marL="431799" lvl="1" indent="-215899" algn="l">
              <a:lnSpc>
                <a:spcPts val="2399"/>
              </a:lnSpc>
              <a:buFont typeface="Arial"/>
              <a:buChar char="•"/>
            </a:pPr>
            <a:r>
              <a:rPr lang="en-US" sz="1999" dirty="0">
                <a:solidFill>
                  <a:srgbClr val="697684"/>
                </a:solidFill>
                <a:latin typeface="Calibri (MS)"/>
                <a:ea typeface="Calibri (MS)"/>
                <a:cs typeface="Calibri (MS)"/>
                <a:sym typeface="Calibri (MS)"/>
              </a:rPr>
              <a:t>Large need for affordable assistive technologies.</a:t>
            </a:r>
          </a:p>
          <a:p>
            <a:pPr marL="431799" lvl="1" indent="-215899" algn="l">
              <a:lnSpc>
                <a:spcPts val="2399"/>
              </a:lnSpc>
              <a:buFont typeface="Arial"/>
              <a:buChar char="•"/>
            </a:pPr>
            <a:r>
              <a:rPr lang="en-US" sz="1999" dirty="0">
                <a:solidFill>
                  <a:srgbClr val="697684"/>
                </a:solidFill>
                <a:latin typeface="Calibri (MS)"/>
                <a:ea typeface="Calibri (MS)"/>
                <a:cs typeface="Calibri (MS)"/>
                <a:sym typeface="Calibri (MS)"/>
              </a:rPr>
              <a:t>Visually impaired users need greater independence in daily activities.</a:t>
            </a:r>
          </a:p>
          <a:p>
            <a:pPr marL="431799" lvl="1" indent="-215899" algn="l">
              <a:lnSpc>
                <a:spcPts val="2399"/>
              </a:lnSpc>
              <a:buFont typeface="Arial"/>
              <a:buChar char="•"/>
            </a:pPr>
            <a:r>
              <a:rPr lang="en-US" sz="1999" dirty="0">
                <a:solidFill>
                  <a:srgbClr val="697684"/>
                </a:solidFill>
                <a:latin typeface="Calibri (MS)"/>
                <a:ea typeface="Calibri (MS)"/>
                <a:cs typeface="Calibri (MS)"/>
                <a:sym typeface="Calibri (MS)"/>
              </a:rPr>
              <a:t>Hands-free voice assistance can reduce dependence on caregivers.</a:t>
            </a:r>
          </a:p>
          <a:p>
            <a:pPr marL="431799" lvl="1" indent="-215899" algn="l">
              <a:lnSpc>
                <a:spcPts val="2399"/>
              </a:lnSpc>
              <a:buFont typeface="Arial"/>
              <a:buChar char="•"/>
            </a:pPr>
            <a:r>
              <a:rPr lang="en-US" sz="1999" dirty="0">
                <a:solidFill>
                  <a:srgbClr val="697684"/>
                </a:solidFill>
                <a:latin typeface="Calibri (MS)"/>
                <a:ea typeface="Calibri (MS)"/>
                <a:cs typeface="Calibri (MS)"/>
                <a:sym typeface="Calibri (MS)"/>
              </a:rPr>
              <a:t>Edge AI makes local and privacy-focused processing possible.</a:t>
            </a:r>
          </a:p>
          <a:p>
            <a:pPr marL="431799" lvl="1" indent="-215899" algn="l">
              <a:lnSpc>
                <a:spcPts val="2399"/>
              </a:lnSpc>
              <a:buFont typeface="Arial"/>
              <a:buChar char="•"/>
            </a:pPr>
            <a:r>
              <a:rPr lang="en-US" sz="1999" dirty="0">
                <a:solidFill>
                  <a:srgbClr val="697684"/>
                </a:solidFill>
                <a:latin typeface="Calibri (MS)"/>
                <a:ea typeface="Calibri (MS)"/>
                <a:cs typeface="Calibri (MS)"/>
                <a:sym typeface="Calibri (MS)"/>
              </a:rPr>
              <a:t>The product can expand from individual homes to rehabilitation and assisted-living environments.</a:t>
            </a:r>
          </a:p>
          <a:p>
            <a:pPr algn="l">
              <a:lnSpc>
                <a:spcPts val="2399"/>
              </a:lnSpc>
            </a:pPr>
            <a:endParaRPr lang="en-US" sz="1999" dirty="0">
              <a:solidFill>
                <a:srgbClr val="697684"/>
              </a:solidFill>
              <a:latin typeface="Calibri (MS)"/>
              <a:ea typeface="Calibri (MS)"/>
              <a:cs typeface="Calibri (MS)"/>
              <a:sym typeface="Calibri (MS)"/>
            </a:endParaRPr>
          </a:p>
        </p:txBody>
      </p:sp>
      <p:grpSp>
        <p:nvGrpSpPr>
          <p:cNvPr id="29" name="Group 29"/>
          <p:cNvGrpSpPr/>
          <p:nvPr/>
        </p:nvGrpSpPr>
        <p:grpSpPr>
          <a:xfrm>
            <a:off x="9113996" y="4862036"/>
            <a:ext cx="7900988" cy="2963228"/>
            <a:chOff x="0" y="0"/>
            <a:chExt cx="10534650" cy="3950970"/>
          </a:xfrm>
        </p:grpSpPr>
        <p:sp>
          <p:nvSpPr>
            <p:cNvPr id="30" name="Freeform 30"/>
            <p:cNvSpPr/>
            <p:nvPr/>
          </p:nvSpPr>
          <p:spPr>
            <a:xfrm>
              <a:off x="0" y="0"/>
              <a:ext cx="10534650" cy="3950970"/>
            </a:xfrm>
            <a:custGeom>
              <a:avLst/>
              <a:gdLst/>
              <a:ahLst/>
              <a:cxnLst/>
              <a:rect l="l" t="t" r="r" b="b"/>
              <a:pathLst>
                <a:path w="10534650" h="3950970">
                  <a:moveTo>
                    <a:pt x="0" y="658495"/>
                  </a:moveTo>
                  <a:cubicBezTo>
                    <a:pt x="0" y="294767"/>
                    <a:pt x="294767" y="0"/>
                    <a:pt x="658495" y="0"/>
                  </a:cubicBezTo>
                  <a:lnTo>
                    <a:pt x="9876155" y="0"/>
                  </a:lnTo>
                  <a:cubicBezTo>
                    <a:pt x="10239883" y="0"/>
                    <a:pt x="10534650" y="294767"/>
                    <a:pt x="10534650" y="658495"/>
                  </a:cubicBezTo>
                  <a:lnTo>
                    <a:pt x="10534650" y="3292475"/>
                  </a:lnTo>
                  <a:cubicBezTo>
                    <a:pt x="10534650" y="3656203"/>
                    <a:pt x="10239883" y="3950970"/>
                    <a:pt x="9876155" y="3950970"/>
                  </a:cubicBezTo>
                  <a:lnTo>
                    <a:pt x="658495" y="3950970"/>
                  </a:lnTo>
                  <a:cubicBezTo>
                    <a:pt x="294767" y="3950970"/>
                    <a:pt x="0" y="3656203"/>
                    <a:pt x="0" y="3292475"/>
                  </a:cubicBezTo>
                  <a:close/>
                </a:path>
              </a:pathLst>
            </a:custGeom>
            <a:solidFill>
              <a:srgbClr val="F4F7FA"/>
            </a:solidFill>
            <a:ln w="14288" cap="sq">
              <a:solidFill>
                <a:srgbClr val="D2DAE2"/>
              </a:solidFill>
              <a:prstDash val="solid"/>
              <a:miter/>
            </a:ln>
          </p:spPr>
        </p:sp>
      </p:grpSp>
      <p:grpSp>
        <p:nvGrpSpPr>
          <p:cNvPr id="31" name="Group 31"/>
          <p:cNvGrpSpPr/>
          <p:nvPr/>
        </p:nvGrpSpPr>
        <p:grpSpPr>
          <a:xfrm>
            <a:off x="9121140" y="4869180"/>
            <a:ext cx="109728" cy="2948940"/>
            <a:chOff x="0" y="0"/>
            <a:chExt cx="146304" cy="3931920"/>
          </a:xfrm>
        </p:grpSpPr>
        <p:sp>
          <p:nvSpPr>
            <p:cNvPr id="32" name="Freeform 32"/>
            <p:cNvSpPr/>
            <p:nvPr/>
          </p:nvSpPr>
          <p:spPr>
            <a:xfrm>
              <a:off x="0" y="0"/>
              <a:ext cx="146304" cy="3931920"/>
            </a:xfrm>
            <a:custGeom>
              <a:avLst/>
              <a:gdLst/>
              <a:ahLst/>
              <a:cxnLst/>
              <a:rect l="l" t="t" r="r" b="b"/>
              <a:pathLst>
                <a:path w="146304" h="3931920">
                  <a:moveTo>
                    <a:pt x="0" y="0"/>
                  </a:moveTo>
                  <a:lnTo>
                    <a:pt x="146304" y="0"/>
                  </a:lnTo>
                  <a:lnTo>
                    <a:pt x="146304" y="3931920"/>
                  </a:lnTo>
                  <a:lnTo>
                    <a:pt x="0" y="3931920"/>
                  </a:lnTo>
                  <a:close/>
                </a:path>
              </a:pathLst>
            </a:custGeom>
            <a:solidFill>
              <a:srgbClr val="2769B4"/>
            </a:solidFill>
          </p:spPr>
        </p:sp>
      </p:grpSp>
      <p:sp>
        <p:nvSpPr>
          <p:cNvPr id="33" name="TextBox 33"/>
          <p:cNvSpPr txBox="1"/>
          <p:nvPr/>
        </p:nvSpPr>
        <p:spPr>
          <a:xfrm>
            <a:off x="9555480" y="4994148"/>
            <a:ext cx="7086600" cy="436245"/>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COMPETITIVE / MARKET ADVANTAGE</a:t>
            </a:r>
          </a:p>
        </p:txBody>
      </p:sp>
      <p:sp>
        <p:nvSpPr>
          <p:cNvPr id="34" name="TextBox 34"/>
          <p:cNvSpPr txBox="1"/>
          <p:nvPr/>
        </p:nvSpPr>
        <p:spPr>
          <a:xfrm>
            <a:off x="9745504" y="5384673"/>
            <a:ext cx="7269480" cy="2705100"/>
          </a:xfrm>
          <a:prstGeom prst="rect">
            <a:avLst/>
          </a:prstGeom>
        </p:spPr>
        <p:txBody>
          <a:bodyPr lIns="0" tIns="0" rIns="0" bIns="0" rtlCol="0" anchor="t">
            <a:spAutoFit/>
          </a:bodyPr>
          <a:lstStyle/>
          <a:p>
            <a:pPr marL="431799" lvl="1" indent="-215899" algn="l">
              <a:lnSpc>
                <a:spcPts val="2399"/>
              </a:lnSpc>
              <a:buFont typeface="Arial"/>
              <a:buChar char="•"/>
            </a:pPr>
            <a:r>
              <a:rPr lang="en-US" sz="1999" b="1" dirty="0">
                <a:solidFill>
                  <a:srgbClr val="697684"/>
                </a:solidFill>
                <a:latin typeface="Calibri (MS) Bold"/>
                <a:ea typeface="Calibri (MS) Bold"/>
                <a:cs typeface="Calibri (MS) Bold"/>
                <a:sym typeface="Calibri (MS) Bold"/>
              </a:rPr>
              <a:t>Cost-</a:t>
            </a:r>
            <a:r>
              <a:rPr lang="en-US" sz="1999" dirty="0">
                <a:solidFill>
                  <a:srgbClr val="697684"/>
                </a:solidFill>
                <a:latin typeface="Calibri (MS)"/>
                <a:ea typeface="Calibri (MS)"/>
                <a:cs typeface="Calibri (MS)"/>
                <a:sym typeface="Calibri (MS)"/>
              </a:rPr>
              <a:t>Fixed-location smart pantry reduces the need for multiple weight sensors.</a:t>
            </a:r>
          </a:p>
          <a:p>
            <a:pPr marL="431799" lvl="1" indent="-215899" algn="l">
              <a:lnSpc>
                <a:spcPts val="2399"/>
              </a:lnSpc>
              <a:buFont typeface="Arial"/>
              <a:buChar char="•"/>
            </a:pPr>
            <a:r>
              <a:rPr lang="en-US" sz="1999" b="1" dirty="0">
                <a:solidFill>
                  <a:srgbClr val="697684"/>
                </a:solidFill>
                <a:latin typeface="Calibri (MS) Bold"/>
                <a:ea typeface="Calibri (MS) Bold"/>
                <a:cs typeface="Calibri (MS) Bold"/>
                <a:sym typeface="Calibri (MS) Bold"/>
              </a:rPr>
              <a:t>Technology-</a:t>
            </a:r>
            <a:r>
              <a:rPr lang="en-US" sz="1999" dirty="0">
                <a:solidFill>
                  <a:srgbClr val="697684"/>
                </a:solidFill>
                <a:latin typeface="Calibri (MS)"/>
                <a:ea typeface="Calibri (MS)"/>
                <a:cs typeface="Calibri (MS)"/>
                <a:sym typeface="Calibri (MS)"/>
              </a:rPr>
              <a:t>Combines smart glasses, Edge AI, cooking assistance and kitchen safety in one system.</a:t>
            </a:r>
          </a:p>
          <a:p>
            <a:pPr marL="431799" lvl="1" indent="-215899" algn="l">
              <a:lnSpc>
                <a:spcPts val="2399"/>
              </a:lnSpc>
              <a:buFont typeface="Arial"/>
              <a:buChar char="•"/>
            </a:pPr>
            <a:r>
              <a:rPr lang="en-US" sz="1999" b="1" dirty="0">
                <a:solidFill>
                  <a:srgbClr val="697684"/>
                </a:solidFill>
                <a:latin typeface="Calibri (MS) Bold"/>
                <a:ea typeface="Calibri (MS) Bold"/>
                <a:cs typeface="Calibri (MS) Bold"/>
                <a:sym typeface="Calibri (MS) Bold"/>
              </a:rPr>
              <a:t>Performance-</a:t>
            </a:r>
            <a:r>
              <a:rPr lang="en-US" sz="1999" dirty="0">
                <a:solidFill>
                  <a:srgbClr val="697684"/>
                </a:solidFill>
                <a:latin typeface="Calibri (MS)"/>
                <a:ea typeface="Calibri (MS)"/>
                <a:cs typeface="Calibri (MS)"/>
                <a:sym typeface="Calibri (MS)"/>
              </a:rPr>
              <a:t>Local processing can provide low-latency responses without requiring continuous cloud access.</a:t>
            </a:r>
          </a:p>
          <a:p>
            <a:pPr marL="431799" lvl="1" indent="-215899" algn="l">
              <a:lnSpc>
                <a:spcPts val="2399"/>
              </a:lnSpc>
              <a:buFont typeface="Arial"/>
              <a:buChar char="•"/>
            </a:pPr>
            <a:r>
              <a:rPr lang="en-US" sz="1999" b="1" dirty="0" err="1">
                <a:solidFill>
                  <a:srgbClr val="697684"/>
                </a:solidFill>
                <a:latin typeface="Calibri (MS) Bold"/>
                <a:ea typeface="Calibri (MS) Bold"/>
                <a:cs typeface="Calibri (MS) Bold"/>
                <a:sym typeface="Calibri (MS) Bold"/>
              </a:rPr>
              <a:t>Scalabilit</a:t>
            </a:r>
            <a:r>
              <a:rPr lang="en-US" sz="1999" b="1" dirty="0">
                <a:solidFill>
                  <a:srgbClr val="697684"/>
                </a:solidFill>
                <a:latin typeface="Calibri (MS) Bold"/>
                <a:ea typeface="Calibri (MS) Bold"/>
                <a:cs typeface="Calibri (MS) Bold"/>
                <a:sym typeface="Calibri (MS) Bold"/>
              </a:rPr>
              <a:t>-</a:t>
            </a:r>
            <a:r>
              <a:rPr lang="en-US" sz="1999" dirty="0">
                <a:solidFill>
                  <a:srgbClr val="697684"/>
                </a:solidFill>
                <a:latin typeface="Calibri (MS)"/>
                <a:ea typeface="Calibri (MS)"/>
                <a:cs typeface="Calibri (MS)"/>
                <a:sym typeface="Calibri (MS)"/>
              </a:rPr>
              <a:t>Modular glasses, pantry and sensor architecture can be adapted to different kitchen environments.</a:t>
            </a:r>
          </a:p>
          <a:p>
            <a:pPr algn="l">
              <a:lnSpc>
                <a:spcPts val="2399"/>
              </a:lnSpc>
            </a:pPr>
            <a:endParaRPr lang="en-US" sz="1999" dirty="0">
              <a:solidFill>
                <a:srgbClr val="697684"/>
              </a:solidFill>
              <a:latin typeface="Calibri (MS)"/>
              <a:ea typeface="Calibri (MS)"/>
              <a:cs typeface="Calibri (MS)"/>
              <a:sym typeface="Calibri (MS)"/>
            </a:endParaRPr>
          </a:p>
        </p:txBody>
      </p:sp>
      <p:grpSp>
        <p:nvGrpSpPr>
          <p:cNvPr id="35" name="Group 35"/>
          <p:cNvGrpSpPr/>
          <p:nvPr/>
        </p:nvGrpSpPr>
        <p:grpSpPr>
          <a:xfrm>
            <a:off x="884396" y="8222456"/>
            <a:ext cx="16130588" cy="1507895"/>
            <a:chOff x="0" y="0"/>
            <a:chExt cx="21507450" cy="2010527"/>
          </a:xfrm>
        </p:grpSpPr>
        <p:sp>
          <p:nvSpPr>
            <p:cNvPr id="36" name="Freeform 36"/>
            <p:cNvSpPr/>
            <p:nvPr/>
          </p:nvSpPr>
          <p:spPr>
            <a:xfrm>
              <a:off x="0" y="0"/>
              <a:ext cx="21507450" cy="2010527"/>
            </a:xfrm>
            <a:custGeom>
              <a:avLst/>
              <a:gdLst/>
              <a:ahLst/>
              <a:cxnLst/>
              <a:rect l="l" t="t" r="r" b="b"/>
              <a:pathLst>
                <a:path w="21507450" h="2010527">
                  <a:moveTo>
                    <a:pt x="0" y="335088"/>
                  </a:moveTo>
                  <a:cubicBezTo>
                    <a:pt x="0" y="149989"/>
                    <a:pt x="129667" y="0"/>
                    <a:pt x="289687" y="0"/>
                  </a:cubicBezTo>
                  <a:lnTo>
                    <a:pt x="21217762" y="0"/>
                  </a:lnTo>
                  <a:cubicBezTo>
                    <a:pt x="21377782" y="0"/>
                    <a:pt x="21507450" y="149989"/>
                    <a:pt x="21507450" y="335088"/>
                  </a:cubicBezTo>
                  <a:lnTo>
                    <a:pt x="21507450" y="1675439"/>
                  </a:lnTo>
                  <a:cubicBezTo>
                    <a:pt x="21507450" y="1860538"/>
                    <a:pt x="21377782" y="2010527"/>
                    <a:pt x="21217762" y="2010527"/>
                  </a:cubicBezTo>
                  <a:lnTo>
                    <a:pt x="289687" y="2010527"/>
                  </a:lnTo>
                  <a:cubicBezTo>
                    <a:pt x="129667" y="2010527"/>
                    <a:pt x="0" y="1860538"/>
                    <a:pt x="0" y="1675439"/>
                  </a:cubicBezTo>
                  <a:close/>
                </a:path>
              </a:pathLst>
            </a:custGeom>
            <a:solidFill>
              <a:srgbClr val="F4F7FA"/>
            </a:solidFill>
            <a:ln w="14288" cap="sq">
              <a:solidFill>
                <a:srgbClr val="D2DAE2"/>
              </a:solidFill>
              <a:prstDash val="solid"/>
              <a:miter/>
            </a:ln>
          </p:spPr>
        </p:sp>
      </p:grpSp>
      <p:grpSp>
        <p:nvGrpSpPr>
          <p:cNvPr id="37" name="Group 37"/>
          <p:cNvGrpSpPr/>
          <p:nvPr/>
        </p:nvGrpSpPr>
        <p:grpSpPr>
          <a:xfrm>
            <a:off x="826887" y="8229600"/>
            <a:ext cx="119517" cy="1500751"/>
            <a:chOff x="0" y="0"/>
            <a:chExt cx="94667" cy="1188720"/>
          </a:xfrm>
        </p:grpSpPr>
        <p:sp>
          <p:nvSpPr>
            <p:cNvPr id="38" name="Freeform 38"/>
            <p:cNvSpPr/>
            <p:nvPr/>
          </p:nvSpPr>
          <p:spPr>
            <a:xfrm>
              <a:off x="0" y="0"/>
              <a:ext cx="94667" cy="1188720"/>
            </a:xfrm>
            <a:custGeom>
              <a:avLst/>
              <a:gdLst/>
              <a:ahLst/>
              <a:cxnLst/>
              <a:rect l="l" t="t" r="r" b="b"/>
              <a:pathLst>
                <a:path w="94667" h="1188720">
                  <a:moveTo>
                    <a:pt x="0" y="0"/>
                  </a:moveTo>
                  <a:lnTo>
                    <a:pt x="94667" y="0"/>
                  </a:lnTo>
                  <a:lnTo>
                    <a:pt x="94667" y="1188720"/>
                  </a:lnTo>
                  <a:lnTo>
                    <a:pt x="0" y="1188720"/>
                  </a:lnTo>
                  <a:close/>
                </a:path>
              </a:pathLst>
            </a:custGeom>
            <a:solidFill>
              <a:srgbClr val="EB7E22"/>
            </a:solidFill>
          </p:spPr>
        </p:sp>
      </p:grpSp>
      <p:sp>
        <p:nvSpPr>
          <p:cNvPr id="39" name="TextBox 39"/>
          <p:cNvSpPr txBox="1"/>
          <p:nvPr/>
        </p:nvSpPr>
        <p:spPr>
          <a:xfrm>
            <a:off x="1325880" y="8318373"/>
            <a:ext cx="15316200" cy="436245"/>
          </a:xfrm>
          <a:prstGeom prst="rect">
            <a:avLst/>
          </a:prstGeom>
        </p:spPr>
        <p:txBody>
          <a:bodyPr lIns="0" tIns="0" rIns="0" bIns="0" rtlCol="0" anchor="t">
            <a:spAutoFit/>
          </a:bodyPr>
          <a:lstStyle/>
          <a:p>
            <a:pPr algn="l">
              <a:lnSpc>
                <a:spcPts val="2520"/>
              </a:lnSpc>
            </a:pPr>
            <a:r>
              <a:rPr lang="en-US" sz="2100" b="1">
                <a:solidFill>
                  <a:srgbClr val="122F52"/>
                </a:solidFill>
                <a:latin typeface="Calibri (MS) Bold"/>
                <a:ea typeface="Calibri (MS) Bold"/>
                <a:cs typeface="Calibri (MS) Bold"/>
                <a:sym typeface="Calibri (MS) Bold"/>
              </a:rPr>
              <a:t>COMMERCIAL POTENTIAL</a:t>
            </a:r>
          </a:p>
        </p:txBody>
      </p:sp>
      <p:sp>
        <p:nvSpPr>
          <p:cNvPr id="40" name="TextBox 40"/>
          <p:cNvSpPr txBox="1"/>
          <p:nvPr/>
        </p:nvSpPr>
        <p:spPr>
          <a:xfrm>
            <a:off x="937031" y="9897523"/>
            <a:ext cx="16413480" cy="280035"/>
          </a:xfrm>
          <a:prstGeom prst="rect">
            <a:avLst/>
          </a:prstGeom>
        </p:spPr>
        <p:txBody>
          <a:bodyPr lIns="0" tIns="0" rIns="0" bIns="0" rtlCol="0" anchor="t">
            <a:spAutoFit/>
          </a:bodyPr>
          <a:lstStyle/>
          <a:p>
            <a:pPr algn="r">
              <a:lnSpc>
                <a:spcPts val="1620"/>
              </a:lnSpc>
            </a:pPr>
            <a:r>
              <a:rPr lang="en-US" sz="1350">
                <a:solidFill>
                  <a:srgbClr val="697684"/>
                </a:solidFill>
                <a:latin typeface="Calibri (MS)"/>
                <a:ea typeface="Calibri (MS)"/>
                <a:cs typeface="Calibri (MS)"/>
                <a:sym typeface="Calibri (MS)"/>
              </a:rPr>
              <a:t>MSME Idea Hackathon 6.0  |  5/5  |  CITBIF</a:t>
            </a:r>
          </a:p>
        </p:txBody>
      </p:sp>
      <p:sp>
        <p:nvSpPr>
          <p:cNvPr id="41" name="TextBox 41"/>
          <p:cNvSpPr txBox="1"/>
          <p:nvPr/>
        </p:nvSpPr>
        <p:spPr>
          <a:xfrm>
            <a:off x="1325880" y="8716518"/>
            <a:ext cx="15316200" cy="1257300"/>
          </a:xfrm>
          <a:prstGeom prst="rect">
            <a:avLst/>
          </a:prstGeom>
        </p:spPr>
        <p:txBody>
          <a:bodyPr lIns="0" tIns="0" rIns="0" bIns="0" rtlCol="0" anchor="t">
            <a:spAutoFit/>
          </a:bodyPr>
          <a:lstStyle/>
          <a:p>
            <a:pPr algn="l">
              <a:lnSpc>
                <a:spcPts val="2400"/>
              </a:lnSpc>
              <a:spcBef>
                <a:spcPct val="0"/>
              </a:spcBef>
            </a:pPr>
            <a:r>
              <a:rPr lang="en-US" sz="2000">
                <a:solidFill>
                  <a:srgbClr val="697684"/>
                </a:solidFill>
                <a:latin typeface="Calibri (MS)"/>
                <a:ea typeface="Calibri (MS)"/>
                <a:cs typeface="Calibri (MS)"/>
                <a:sym typeface="Calibri (MS)"/>
              </a:rPr>
              <a:t>Affordable assistive product with direct-sales and healthcare partnership opportunities. Start with a Tamil Nadu pilot and scale across India through modular deployment.</a:t>
            </a:r>
          </a:p>
          <a:p>
            <a:pPr algn="l">
              <a:lnSpc>
                <a:spcPts val="2400"/>
              </a:lnSpc>
              <a:spcBef>
                <a:spcPct val="0"/>
              </a:spcBef>
            </a:pPr>
            <a:endParaRPr lang="en-US" sz="2000">
              <a:solidFill>
                <a:srgbClr val="697684"/>
              </a:solidFill>
              <a:latin typeface="Calibri (MS)"/>
              <a:ea typeface="Calibri (MS)"/>
              <a:cs typeface="Calibri (MS)"/>
              <a:sym typeface="Calibri (MS)"/>
            </a:endParaRPr>
          </a:p>
          <a:p>
            <a:pPr algn="l">
              <a:lnSpc>
                <a:spcPts val="2400"/>
              </a:lnSpc>
              <a:spcBef>
                <a:spcPct val="0"/>
              </a:spcBef>
            </a:pPr>
            <a:endParaRPr lang="en-US" sz="2000">
              <a:solidFill>
                <a:srgbClr val="697684"/>
              </a:solidFill>
              <a:latin typeface="Calibri (MS)"/>
              <a:ea typeface="Calibri (MS)"/>
              <a:cs typeface="Calibri (MS)"/>
              <a:sym typeface="Calibri (M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TotalTime>
  <Words>870</Words>
  <Application>Microsoft Office PowerPoint</Application>
  <PresentationFormat>Custom</PresentationFormat>
  <Paragraphs>107</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Calibri (MS)</vt:lpstr>
      <vt:lpstr>Calibri</vt:lpstr>
      <vt:lpstr>Calibri (MS) Bold</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MSME_Idea_Hackathon_6.0_CITBIF_PPT_Templat.pptx</dc:title>
  <cp:lastModifiedBy>harigandan M</cp:lastModifiedBy>
  <cp:revision>3</cp:revision>
  <dcterms:created xsi:type="dcterms:W3CDTF">2006-08-16T00:00:00Z</dcterms:created>
  <dcterms:modified xsi:type="dcterms:W3CDTF">2026-08-10T19:29:51Z</dcterms:modified>
  <dc:identifier>DAHR6ST0Bis</dc:identifier>
</cp:coreProperties>
</file>